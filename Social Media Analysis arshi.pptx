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284" r:id="rId5"/>
    <p:sldId id="286" r:id="rId6"/>
    <p:sldId id="298" r:id="rId7"/>
    <p:sldId id="300" r:id="rId8"/>
    <p:sldId id="294" r:id="rId9"/>
    <p:sldId id="299" r:id="rId10"/>
    <p:sldId id="301" r:id="rId11"/>
    <p:sldId id="302" r:id="rId12"/>
    <p:sldId id="303" r:id="rId13"/>
    <p:sldId id="304" r:id="rId14"/>
    <p:sldId id="305" r:id="rId15"/>
    <p:sldId id="306" r:id="rId16"/>
    <p:sldId id="307" r:id="rId17"/>
    <p:sldId id="295" r:id="rId18"/>
    <p:sldId id="30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EFD3"/>
    <a:srgbClr val="E9C46A"/>
    <a:srgbClr val="ECC4BF"/>
    <a:srgbClr val="C9ABA7"/>
    <a:srgbClr val="F15574"/>
    <a:srgbClr val="F4EBE8"/>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899" autoAdjust="0"/>
  </p:normalViewPr>
  <p:slideViewPr>
    <p:cSldViewPr snapToGrid="0" snapToObjects="1" showGuides="1">
      <p:cViewPr varScale="1">
        <p:scale>
          <a:sx n="78" d="100"/>
          <a:sy n="78" d="100"/>
        </p:scale>
        <p:origin x="144" y="67"/>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[Book1]Sheet2!PivotTable2</c:name>
    <c:fmtId val="-1"/>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 TOTAL</a:t>
            </a:r>
            <a:r>
              <a:rPr lang="en-US" baseline="0"/>
              <a:t> ENGAGEMENT</a:t>
            </a:r>
            <a:endParaRPr lang="en-US"/>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160587632325294"/>
          <c:y val="0.21664058424621804"/>
          <c:w val="0.82628670978299346"/>
          <c:h val="0.42774882012987814"/>
        </c:manualLayout>
      </c:layout>
      <c:barChart>
        <c:barDir val="col"/>
        <c:grouping val="clustered"/>
        <c:varyColors val="0"/>
        <c:ser>
          <c:idx val="0"/>
          <c:order val="0"/>
          <c:tx>
            <c:strRef>
              <c:f>Sheet2!$B$1</c:f>
              <c:strCache>
                <c:ptCount val="1"/>
                <c:pt idx="0">
                  <c:v>Total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Sheet2!$A$2:$A$12</c:f>
              <c:strCache>
                <c:ptCount val="10"/>
                <c:pt idx="0">
                  <c:v>Andre_Purdy85</c:v>
                </c:pt>
                <c:pt idx="1">
                  <c:v>Billy52</c:v>
                </c:pt>
                <c:pt idx="2">
                  <c:v>Elenor88</c:v>
                </c:pt>
                <c:pt idx="3">
                  <c:v>Emilio_Bernier52</c:v>
                </c:pt>
                <c:pt idx="4">
                  <c:v>Josianne.Friesen</c:v>
                </c:pt>
                <c:pt idx="5">
                  <c:v>Karley_Bosco</c:v>
                </c:pt>
                <c:pt idx="6">
                  <c:v>Keenan.Schamberger60</c:v>
                </c:pt>
                <c:pt idx="7">
                  <c:v>Lennie_Hartmann40</c:v>
                </c:pt>
                <c:pt idx="8">
                  <c:v>Norbert_Carroll35</c:v>
                </c:pt>
                <c:pt idx="9">
                  <c:v>Rick29</c:v>
                </c:pt>
              </c:strCache>
            </c:strRef>
          </c:cat>
          <c:val>
            <c:numRef>
              <c:f>Sheet2!$B$2:$B$12</c:f>
              <c:numCache>
                <c:formatCode>General</c:formatCode>
                <c:ptCount val="10"/>
                <c:pt idx="0">
                  <c:v>160</c:v>
                </c:pt>
                <c:pt idx="1">
                  <c:v>161</c:v>
                </c:pt>
                <c:pt idx="2">
                  <c:v>163</c:v>
                </c:pt>
                <c:pt idx="3">
                  <c:v>162</c:v>
                </c:pt>
                <c:pt idx="4">
                  <c:v>163</c:v>
                </c:pt>
                <c:pt idx="5">
                  <c:v>166</c:v>
                </c:pt>
                <c:pt idx="6">
                  <c:v>173</c:v>
                </c:pt>
                <c:pt idx="7">
                  <c:v>159</c:v>
                </c:pt>
                <c:pt idx="8">
                  <c:v>161</c:v>
                </c:pt>
                <c:pt idx="9">
                  <c:v>166</c:v>
                </c:pt>
              </c:numCache>
            </c:numRef>
          </c:val>
          <c:extLst>
            <c:ext xmlns:c16="http://schemas.microsoft.com/office/drawing/2014/chart" uri="{C3380CC4-5D6E-409C-BE32-E72D297353CC}">
              <c16:uniqueId val="{00000000-1DB8-4E92-8587-F500E6AC667B}"/>
            </c:ext>
          </c:extLst>
        </c:ser>
        <c:dLbls>
          <c:dLblPos val="outEnd"/>
          <c:showLegendKey val="0"/>
          <c:showVal val="1"/>
          <c:showCatName val="0"/>
          <c:showSerName val="0"/>
          <c:showPercent val="0"/>
          <c:showBubbleSize val="0"/>
        </c:dLbls>
        <c:gapWidth val="100"/>
        <c:overlap val="-24"/>
        <c:axId val="481555056"/>
        <c:axId val="481564656"/>
      </c:barChart>
      <c:catAx>
        <c:axId val="481555056"/>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a:t>USERNAME</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12700"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1564656"/>
        <c:crosses val="autoZero"/>
        <c:auto val="1"/>
        <c:lblAlgn val="ctr"/>
        <c:lblOffset val="100"/>
        <c:noMultiLvlLbl val="0"/>
      </c:catAx>
      <c:valAx>
        <c:axId val="481564656"/>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a:t>COUNT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15550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[Book1]Sheet1!PivotTable3</c:name>
    <c:fmtId val="-1"/>
  </c:pivotSource>
  <c:chart>
    <c:title>
      <c:tx>
        <c:rich>
          <a:bodyPr rot="0" spcFirstLastPara="1" vertOverflow="ellipsis" vert="horz" wrap="square" anchor="ctr" anchorCtr="1"/>
          <a:lstStyle/>
          <a:p>
            <a:pPr>
              <a:defRPr sz="1800" b="1" i="0" u="none" strike="noStrike" kern="1200" cap="all" spc="50" baseline="0">
                <a:solidFill>
                  <a:schemeClr val="tx1">
                    <a:lumMod val="65000"/>
                    <a:lumOff val="35000"/>
                  </a:schemeClr>
                </a:solidFill>
                <a:latin typeface="+mn-lt"/>
                <a:ea typeface="+mn-ea"/>
                <a:cs typeface="+mn-cs"/>
              </a:defRPr>
            </a:pPr>
            <a:r>
              <a:rPr lang="en-US"/>
              <a:t>HASTAGS VS ENGAGEMNT</a:t>
            </a:r>
          </a:p>
        </c:rich>
      </c:tx>
      <c:overlay val="0"/>
      <c:spPr>
        <a:noFill/>
        <a:ln>
          <a:noFill/>
        </a:ln>
        <a:effectLst/>
      </c:spPr>
      <c:txPr>
        <a:bodyPr rot="0" spcFirstLastPara="1" vertOverflow="ellipsis" vert="horz" wrap="square" anchor="ctr" anchorCtr="1"/>
        <a:lstStyle/>
        <a:p>
          <a:pPr>
            <a:defRPr sz="1800" b="1" i="0" u="none" strike="noStrike" kern="1200" cap="all" spc="50" baseline="0">
              <a:solidFill>
                <a:schemeClr val="tx1">
                  <a:lumMod val="65000"/>
                  <a:lumOff val="35000"/>
                </a:schemeClr>
              </a:solidFill>
              <a:latin typeface="+mn-lt"/>
              <a:ea typeface="+mn-ea"/>
              <a:cs typeface="+mn-cs"/>
            </a:defRPr>
          </a:pPr>
          <a:endParaRPr lang="en-US"/>
        </a:p>
      </c:txPr>
    </c:title>
    <c:autoTitleDeleted val="0"/>
    <c:pivotFmts>
      <c:pivotFmt>
        <c:idx val="0"/>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10800000" scaled="1"/>
            <a:tileRect/>
          </a:gradFill>
          <a:ln>
            <a:noFill/>
          </a:ln>
          <a:effectLst/>
        </c:spPr>
        <c:marker>
          <c:symbol val="circle"/>
          <c:size val="6"/>
          <c:spPr>
            <a:gradFill>
              <a:gsLst>
                <a:gs pos="0">
                  <a:schemeClr val="accent2"/>
                </a:gs>
                <a:gs pos="46000">
                  <a:schemeClr val="accent2"/>
                </a:gs>
                <a:gs pos="100000">
                  <a:schemeClr val="accent2">
                    <a:lumMod val="20000"/>
                    <a:lumOff val="80000"/>
                    <a:alpha val="0"/>
                  </a:schemeClr>
                </a:gs>
              </a:gsLst>
              <a:path path="circle">
                <a:fillToRect l="50000" t="-80000" r="50000" b="180000"/>
              </a:path>
            </a:gradFill>
            <a:ln w="9525" cap="flat" cmpd="sng" algn="ctr">
              <a:solidFill>
                <a:schemeClr val="accent2">
                  <a:shade val="9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635297119718195"/>
          <c:y val="0.12729664199985563"/>
          <c:w val="0.85423834583197011"/>
          <c:h val="0.75548939555062278"/>
        </c:manualLayout>
      </c:layout>
      <c:barChart>
        <c:barDir val="bar"/>
        <c:grouping val="clustered"/>
        <c:varyColors val="0"/>
        <c:ser>
          <c:idx val="0"/>
          <c:order val="0"/>
          <c:tx>
            <c:strRef>
              <c:f>Sheet1!$R$15</c:f>
              <c:strCache>
                <c:ptCount val="1"/>
                <c:pt idx="0">
                  <c:v>Total</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108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Sheet1!$Q$16:$Q$26</c:f>
              <c:strCache>
                <c:ptCount val="10"/>
                <c:pt idx="0">
                  <c:v>beach</c:v>
                </c:pt>
                <c:pt idx="1">
                  <c:v>beauty</c:v>
                </c:pt>
                <c:pt idx="2">
                  <c:v>concert</c:v>
                </c:pt>
                <c:pt idx="3">
                  <c:v>food</c:v>
                </c:pt>
                <c:pt idx="4">
                  <c:v>fun</c:v>
                </c:pt>
                <c:pt idx="5">
                  <c:v>hair</c:v>
                </c:pt>
                <c:pt idx="6">
                  <c:v>happy</c:v>
                </c:pt>
                <c:pt idx="7">
                  <c:v>lol</c:v>
                </c:pt>
                <c:pt idx="8">
                  <c:v>party</c:v>
                </c:pt>
                <c:pt idx="9">
                  <c:v>smile</c:v>
                </c:pt>
              </c:strCache>
            </c:strRef>
          </c:cat>
          <c:val>
            <c:numRef>
              <c:f>Sheet1!$R$16:$R$26</c:f>
              <c:numCache>
                <c:formatCode>General</c:formatCode>
                <c:ptCount val="10"/>
                <c:pt idx="0">
                  <c:v>42</c:v>
                </c:pt>
                <c:pt idx="1">
                  <c:v>20</c:v>
                </c:pt>
                <c:pt idx="2">
                  <c:v>24</c:v>
                </c:pt>
                <c:pt idx="3">
                  <c:v>24</c:v>
                </c:pt>
                <c:pt idx="4">
                  <c:v>38</c:v>
                </c:pt>
                <c:pt idx="5">
                  <c:v>23</c:v>
                </c:pt>
                <c:pt idx="6">
                  <c:v>22</c:v>
                </c:pt>
                <c:pt idx="7">
                  <c:v>24</c:v>
                </c:pt>
                <c:pt idx="8">
                  <c:v>39</c:v>
                </c:pt>
                <c:pt idx="9">
                  <c:v>59</c:v>
                </c:pt>
              </c:numCache>
            </c:numRef>
          </c:val>
          <c:extLst>
            <c:ext xmlns:c16="http://schemas.microsoft.com/office/drawing/2014/chart" uri="{C3380CC4-5D6E-409C-BE32-E72D297353CC}">
              <c16:uniqueId val="{00000000-9A72-4E15-B811-AB1DD138048D}"/>
            </c:ext>
          </c:extLst>
        </c:ser>
        <c:dLbls>
          <c:dLblPos val="outEnd"/>
          <c:showLegendKey val="0"/>
          <c:showVal val="1"/>
          <c:showCatName val="0"/>
          <c:showSerName val="0"/>
          <c:showPercent val="0"/>
          <c:showBubbleSize val="0"/>
        </c:dLbls>
        <c:gapWidth val="326"/>
        <c:overlap val="-58"/>
        <c:axId val="906632879"/>
        <c:axId val="906622799"/>
      </c:barChart>
      <c:catAx>
        <c:axId val="906632879"/>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j-lt"/>
                <a:ea typeface="+mn-ea"/>
                <a:cs typeface="+mn-cs"/>
              </a:defRPr>
            </a:pPr>
            <a:endParaRPr lang="en-US"/>
          </a:p>
        </c:txPr>
        <c:crossAx val="906622799"/>
        <c:crosses val="autoZero"/>
        <c:auto val="1"/>
        <c:lblAlgn val="ctr"/>
        <c:lblOffset val="100"/>
        <c:noMultiLvlLbl val="0"/>
      </c:catAx>
      <c:valAx>
        <c:axId val="90662279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66328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[Book1]Sheet1!PivotTable4</c:name>
    <c:fmtId val="-1"/>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a:t>Followers</a:t>
            </a:r>
            <a:r>
              <a:rPr lang="en-IN" baseline="0"/>
              <a:t> count and Total Engagement</a:t>
            </a:r>
            <a:endParaRPr lang="en-IN"/>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IN"/>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2">
                    <a:tint val="77000"/>
                    <a:satMod val="103000"/>
                    <a:lumMod val="102000"/>
                    <a:tint val="94000"/>
                  </a:schemeClr>
                </a:gs>
                <a:gs pos="50000">
                  <a:schemeClr val="accent2">
                    <a:tint val="77000"/>
                    <a:satMod val="110000"/>
                    <a:lumMod val="100000"/>
                    <a:shade val="100000"/>
                  </a:schemeClr>
                </a:gs>
                <a:gs pos="100000">
                  <a:schemeClr val="accent2">
                    <a:tint val="77000"/>
                    <a:lumMod val="99000"/>
                    <a:satMod val="120000"/>
                    <a:shade val="78000"/>
                  </a:schemeClr>
                </a:gs>
              </a:gsLst>
              <a:lin ang="5400000" scaled="0"/>
            </a:gradFill>
            <a:ln w="9525">
              <a:solidFill>
                <a:schemeClr val="accent2">
                  <a:tint val="77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2">
                    <a:shade val="76000"/>
                    <a:satMod val="103000"/>
                    <a:lumMod val="102000"/>
                    <a:tint val="94000"/>
                  </a:schemeClr>
                </a:gs>
                <a:gs pos="50000">
                  <a:schemeClr val="accent2">
                    <a:shade val="76000"/>
                    <a:satMod val="110000"/>
                    <a:lumMod val="100000"/>
                    <a:shade val="100000"/>
                  </a:schemeClr>
                </a:gs>
                <a:gs pos="100000">
                  <a:schemeClr val="accent2">
                    <a:shade val="76000"/>
                    <a:lumMod val="99000"/>
                    <a:satMod val="120000"/>
                    <a:shade val="78000"/>
                  </a:schemeClr>
                </a:gs>
              </a:gsLst>
              <a:lin ang="5400000" scaled="0"/>
            </a:gradFill>
            <a:ln w="9525">
              <a:solidFill>
                <a:schemeClr val="accent2">
                  <a:shade val="76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Sheet1!$AD$22</c:f>
              <c:strCache>
                <c:ptCount val="1"/>
                <c:pt idx="0">
                  <c:v>Sum of total_followers</c:v>
                </c:pt>
              </c:strCache>
            </c:strRef>
          </c:tx>
          <c:spPr>
            <a:gradFill rotWithShape="1">
              <a:gsLst>
                <a:gs pos="0">
                  <a:schemeClr val="accent2">
                    <a:tint val="77000"/>
                    <a:satMod val="103000"/>
                    <a:lumMod val="102000"/>
                    <a:tint val="94000"/>
                  </a:schemeClr>
                </a:gs>
                <a:gs pos="50000">
                  <a:schemeClr val="accent2">
                    <a:tint val="77000"/>
                    <a:satMod val="110000"/>
                    <a:lumMod val="100000"/>
                    <a:shade val="100000"/>
                  </a:schemeClr>
                </a:gs>
                <a:gs pos="100000">
                  <a:schemeClr val="accent2">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Sheet1!$AC$23:$AC$33</c:f>
              <c:strCache>
                <c:ptCount val="10"/>
                <c:pt idx="0">
                  <c:v>Aiyana_Hoeger</c:v>
                </c:pt>
                <c:pt idx="1">
                  <c:v>Damon35</c:v>
                </c:pt>
                <c:pt idx="2">
                  <c:v>Delpha.Kihn</c:v>
                </c:pt>
                <c:pt idx="3">
                  <c:v>Erick5</c:v>
                </c:pt>
                <c:pt idx="4">
                  <c:v>Jaylan.Lakin</c:v>
                </c:pt>
                <c:pt idx="5">
                  <c:v>Karley_Bosco</c:v>
                </c:pt>
                <c:pt idx="6">
                  <c:v>Kelsi26</c:v>
                </c:pt>
                <c:pt idx="7">
                  <c:v>Kenneth64</c:v>
                </c:pt>
                <c:pt idx="8">
                  <c:v>Peter.Stehr0</c:v>
                </c:pt>
                <c:pt idx="9">
                  <c:v>Rafael.Hickle2</c:v>
                </c:pt>
              </c:strCache>
            </c:strRef>
          </c:cat>
          <c:val>
            <c:numRef>
              <c:f>Sheet1!$AD$23:$AD$33</c:f>
              <c:numCache>
                <c:formatCode>General</c:formatCode>
                <c:ptCount val="10"/>
                <c:pt idx="0">
                  <c:v>76</c:v>
                </c:pt>
                <c:pt idx="1">
                  <c:v>76</c:v>
                </c:pt>
                <c:pt idx="2">
                  <c:v>76</c:v>
                </c:pt>
                <c:pt idx="3">
                  <c:v>76</c:v>
                </c:pt>
                <c:pt idx="4">
                  <c:v>76</c:v>
                </c:pt>
                <c:pt idx="5">
                  <c:v>76</c:v>
                </c:pt>
                <c:pt idx="6">
                  <c:v>76</c:v>
                </c:pt>
                <c:pt idx="7">
                  <c:v>76</c:v>
                </c:pt>
                <c:pt idx="8">
                  <c:v>76</c:v>
                </c:pt>
                <c:pt idx="9">
                  <c:v>76</c:v>
                </c:pt>
              </c:numCache>
            </c:numRef>
          </c:val>
          <c:extLst>
            <c:ext xmlns:c16="http://schemas.microsoft.com/office/drawing/2014/chart" uri="{C3380CC4-5D6E-409C-BE32-E72D297353CC}">
              <c16:uniqueId val="{00000000-01F5-4AB1-9DC4-7D353D1500CE}"/>
            </c:ext>
          </c:extLst>
        </c:ser>
        <c:ser>
          <c:idx val="1"/>
          <c:order val="1"/>
          <c:tx>
            <c:strRef>
              <c:f>Sheet1!$AE$22</c:f>
              <c:strCache>
                <c:ptCount val="1"/>
                <c:pt idx="0">
                  <c:v>Sum of engagement_rate</c:v>
                </c:pt>
              </c:strCache>
            </c:strRef>
          </c:tx>
          <c:spPr>
            <a:gradFill rotWithShape="1">
              <a:gsLst>
                <a:gs pos="0">
                  <a:schemeClr val="accent2">
                    <a:shade val="76000"/>
                    <a:satMod val="103000"/>
                    <a:lumMod val="102000"/>
                    <a:tint val="94000"/>
                  </a:schemeClr>
                </a:gs>
                <a:gs pos="50000">
                  <a:schemeClr val="accent2">
                    <a:shade val="76000"/>
                    <a:satMod val="110000"/>
                    <a:lumMod val="100000"/>
                    <a:shade val="100000"/>
                  </a:schemeClr>
                </a:gs>
                <a:gs pos="100000">
                  <a:schemeClr val="accent2">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Sheet1!$AC$23:$AC$33</c:f>
              <c:strCache>
                <c:ptCount val="10"/>
                <c:pt idx="0">
                  <c:v>Aiyana_Hoeger</c:v>
                </c:pt>
                <c:pt idx="1">
                  <c:v>Damon35</c:v>
                </c:pt>
                <c:pt idx="2">
                  <c:v>Delpha.Kihn</c:v>
                </c:pt>
                <c:pt idx="3">
                  <c:v>Erick5</c:v>
                </c:pt>
                <c:pt idx="4">
                  <c:v>Jaylan.Lakin</c:v>
                </c:pt>
                <c:pt idx="5">
                  <c:v>Karley_Bosco</c:v>
                </c:pt>
                <c:pt idx="6">
                  <c:v>Kelsi26</c:v>
                </c:pt>
                <c:pt idx="7">
                  <c:v>Kenneth64</c:v>
                </c:pt>
                <c:pt idx="8">
                  <c:v>Peter.Stehr0</c:v>
                </c:pt>
                <c:pt idx="9">
                  <c:v>Rafael.Hickle2</c:v>
                </c:pt>
              </c:strCache>
            </c:strRef>
          </c:cat>
          <c:val>
            <c:numRef>
              <c:f>Sheet1!$AE$23:$AE$33</c:f>
              <c:numCache>
                <c:formatCode>General</c:formatCode>
                <c:ptCount val="10"/>
                <c:pt idx="0">
                  <c:v>154</c:v>
                </c:pt>
                <c:pt idx="1">
                  <c:v>152</c:v>
                </c:pt>
                <c:pt idx="2">
                  <c:v>154</c:v>
                </c:pt>
                <c:pt idx="3">
                  <c:v>157</c:v>
                </c:pt>
                <c:pt idx="4">
                  <c:v>149</c:v>
                </c:pt>
                <c:pt idx="5">
                  <c:v>166</c:v>
                </c:pt>
                <c:pt idx="6">
                  <c:v>156</c:v>
                </c:pt>
                <c:pt idx="7">
                  <c:v>158</c:v>
                </c:pt>
                <c:pt idx="8">
                  <c:v>149</c:v>
                </c:pt>
                <c:pt idx="9">
                  <c:v>153</c:v>
                </c:pt>
              </c:numCache>
            </c:numRef>
          </c:val>
          <c:extLst>
            <c:ext xmlns:c16="http://schemas.microsoft.com/office/drawing/2014/chart" uri="{C3380CC4-5D6E-409C-BE32-E72D297353CC}">
              <c16:uniqueId val="{00000001-01F5-4AB1-9DC4-7D353D1500CE}"/>
            </c:ext>
          </c:extLst>
        </c:ser>
        <c:dLbls>
          <c:dLblPos val="outEnd"/>
          <c:showLegendKey val="0"/>
          <c:showVal val="1"/>
          <c:showCatName val="0"/>
          <c:showSerName val="0"/>
          <c:showPercent val="0"/>
          <c:showBubbleSize val="0"/>
        </c:dLbls>
        <c:gapWidth val="100"/>
        <c:overlap val="-24"/>
        <c:axId val="1005683119"/>
        <c:axId val="1005692719"/>
      </c:barChart>
      <c:catAx>
        <c:axId val="1005683119"/>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5692719"/>
        <c:crosses val="autoZero"/>
        <c:auto val="1"/>
        <c:lblAlgn val="ctr"/>
        <c:lblOffset val="100"/>
        <c:noMultiLvlLbl val="0"/>
      </c:catAx>
      <c:valAx>
        <c:axId val="10056927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568311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[Book1]Sheet1!PivotTable1</c:name>
    <c:fmtId val="-1"/>
  </c:pivotSource>
  <c:chart>
    <c:autoTitleDeleted val="1"/>
    <c:pivotFmts>
      <c:pivotFmt>
        <c:idx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15:xForSave val="1"/>
            </c:ext>
          </c:extLst>
        </c:dLbl>
      </c:pivotFmt>
      <c:pivotFmt>
        <c:idx val="2"/>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15:xForSave val="1"/>
            </c:ext>
          </c:extLst>
        </c:dLbl>
      </c:pivotFmt>
      <c:pivotFmt>
        <c:idx val="3"/>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15:xForSave val="1"/>
            </c:ext>
          </c:extLst>
        </c:dLbl>
      </c:pivotFmt>
      <c:pivotFmt>
        <c:idx val="4"/>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hade val="65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tint val="65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hade val="65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tint val="65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967944713283355"/>
          <c:y val="0.11788433298751033"/>
          <c:w val="0.76358013490906695"/>
          <c:h val="0.7396157480314961"/>
        </c:manualLayout>
      </c:layout>
      <c:pie3DChart>
        <c:varyColors val="1"/>
        <c:ser>
          <c:idx val="0"/>
          <c:order val="0"/>
          <c:tx>
            <c:strRef>
              <c:f>Sheet1!$I$4</c:f>
              <c:strCache>
                <c:ptCount val="1"/>
                <c:pt idx="0">
                  <c:v>Total</c:v>
                </c:pt>
              </c:strCache>
            </c:strRef>
          </c:tx>
          <c:dPt>
            <c:idx val="0"/>
            <c:bubble3D val="0"/>
            <c:spPr>
              <a:solidFill>
                <a:schemeClr val="accent2">
                  <a:shade val="65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F32B-4C36-89FA-05B1FF55C7C3}"/>
              </c:ext>
            </c:extLst>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3-F32B-4C36-89FA-05B1FF55C7C3}"/>
              </c:ext>
            </c:extLst>
          </c:dPt>
          <c:dPt>
            <c:idx val="2"/>
            <c:bubble3D val="0"/>
            <c:spPr>
              <a:solidFill>
                <a:schemeClr val="accent2">
                  <a:tint val="65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5-F32B-4C36-89FA-05B1FF55C7C3}"/>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hade val="65000"/>
                        </a:schemeClr>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1-F32B-4C36-89FA-05B1FF55C7C3}"/>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3-F32B-4C36-89FA-05B1FF55C7C3}"/>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tint val="65000"/>
                        </a:schemeClr>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5-F32B-4C36-89FA-05B1FF55C7C3}"/>
                </c:ext>
              </c:extLst>
            </c:dLbl>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Sheet1!$H$5:$H$8</c:f>
              <c:strCache>
                <c:ptCount val="3"/>
                <c:pt idx="0">
                  <c:v>Highly Engaged</c:v>
                </c:pt>
                <c:pt idx="1">
                  <c:v>Less Engaged</c:v>
                </c:pt>
                <c:pt idx="2">
                  <c:v>Moderately Engaged</c:v>
                </c:pt>
              </c:strCache>
            </c:strRef>
          </c:cat>
          <c:val>
            <c:numRef>
              <c:f>Sheet1!$I$5:$I$8</c:f>
              <c:numCache>
                <c:formatCode>General</c:formatCode>
                <c:ptCount val="3"/>
                <c:pt idx="0">
                  <c:v>30</c:v>
                </c:pt>
                <c:pt idx="1">
                  <c:v>10</c:v>
                </c:pt>
                <c:pt idx="2">
                  <c:v>34</c:v>
                </c:pt>
              </c:numCache>
            </c:numRef>
          </c:val>
          <c:extLst>
            <c:ext xmlns:c16="http://schemas.microsoft.com/office/drawing/2014/chart" uri="{C3380CC4-5D6E-409C-BE32-E72D297353CC}">
              <c16:uniqueId val="{00000006-F32B-4C36-89FA-05B1FF55C7C3}"/>
            </c:ext>
          </c:extLst>
        </c:ser>
        <c:dLbls>
          <c:dLblPos val="outEnd"/>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[Book1]Sheet1!PivotTable1</c:name>
    <c:fmtId val="-1"/>
  </c:pivotSource>
  <c:chart>
    <c:autoTitleDeleted val="1"/>
    <c:pivotFmts>
      <c:pivotFmt>
        <c:idx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15:xForSave val="1"/>
            </c:ext>
          </c:extLst>
        </c:dLbl>
      </c:pivotFmt>
      <c:pivotFmt>
        <c:idx val="2"/>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15:xForSave val="1"/>
            </c:ext>
          </c:extLst>
        </c:dLbl>
      </c:pivotFmt>
      <c:pivotFmt>
        <c:idx val="3"/>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15:xForSave val="1"/>
            </c:ext>
          </c:extLst>
        </c:dLbl>
      </c:pivotFmt>
      <c:pivotFmt>
        <c:idx val="4"/>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hade val="65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tint val="65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hade val="65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tint val="65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967944713283355"/>
          <c:y val="0.11788433298751033"/>
          <c:w val="0.76358013490906695"/>
          <c:h val="0.7396157480314961"/>
        </c:manualLayout>
      </c:layout>
      <c:pie3DChart>
        <c:varyColors val="1"/>
        <c:dLbls>
          <c:dLblPos val="outEnd"/>
          <c:showLegendKey val="0"/>
          <c:showVal val="0"/>
          <c:showCatName val="1"/>
          <c:showSerName val="0"/>
          <c:showPercent val="0"/>
          <c:showBubbleSize val="0"/>
          <c:showLeaderLines val="0"/>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[Book1]Sheet1!PivotTable2</c:name>
    <c:fmtId val="-1"/>
  </c:pivotSource>
  <c:chart>
    <c:autoTitleDeleted val="1"/>
    <c:pivotFmts>
      <c:pivotFmt>
        <c:idx val="0"/>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15:xForSave val="1"/>
            </c:ext>
          </c:extLst>
        </c:dLbl>
      </c:pivotFmt>
      <c:pivotFmt>
        <c:idx val="2"/>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15:xForSave val="1"/>
            </c:ext>
          </c:extLst>
        </c:dLbl>
      </c:pivotFmt>
      <c:pivotFmt>
        <c:idx val="3"/>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tint val="77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hade val="76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tint val="77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hade val="76000"/>
                    </a:schemeClr>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0304914455026414"/>
          <c:y val="0.11111554167407012"/>
          <c:w val="0.8063783754842383"/>
          <c:h val="0.78587153019132694"/>
        </c:manualLayout>
      </c:layout>
      <c:pie3DChart>
        <c:varyColors val="1"/>
        <c:ser>
          <c:idx val="0"/>
          <c:order val="0"/>
          <c:tx>
            <c:strRef>
              <c:f>Sheet1!$I$23</c:f>
              <c:strCache>
                <c:ptCount val="1"/>
                <c:pt idx="0">
                  <c:v>Total</c:v>
                </c:pt>
              </c:strCache>
            </c:strRef>
          </c:tx>
          <c:dPt>
            <c:idx val="0"/>
            <c:bubble3D val="0"/>
            <c:spPr>
              <a:solidFill>
                <a:schemeClr val="accent3">
                  <a:shade val="76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B0BE-4556-9F64-F0F86D6DB525}"/>
              </c:ext>
            </c:extLst>
          </c:dPt>
          <c:dPt>
            <c:idx val="1"/>
            <c:bubble3D val="0"/>
            <c:spPr>
              <a:solidFill>
                <a:schemeClr val="accent3">
                  <a:tint val="77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3-B0BE-4556-9F64-F0F86D6DB525}"/>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tint val="77000"/>
                        </a:schemeClr>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1-B0BE-4556-9F64-F0F86D6DB525}"/>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hade val="76000"/>
                        </a:schemeClr>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3-B0BE-4556-9F64-F0F86D6DB525}"/>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Sheet1!$H$24:$H$26</c:f>
              <c:strCache>
                <c:ptCount val="2"/>
                <c:pt idx="0">
                  <c:v>New_User</c:v>
                </c:pt>
                <c:pt idx="1">
                  <c:v>Old_User</c:v>
                </c:pt>
              </c:strCache>
            </c:strRef>
          </c:cat>
          <c:val>
            <c:numRef>
              <c:f>Sheet1!$I$24:$I$26</c:f>
              <c:numCache>
                <c:formatCode>General</c:formatCode>
                <c:ptCount val="2"/>
                <c:pt idx="0">
                  <c:v>26</c:v>
                </c:pt>
                <c:pt idx="1">
                  <c:v>48</c:v>
                </c:pt>
              </c:numCache>
            </c:numRef>
          </c:val>
          <c:extLst>
            <c:ext xmlns:c16="http://schemas.microsoft.com/office/drawing/2014/chart" uri="{C3380CC4-5D6E-409C-BE32-E72D297353CC}">
              <c16:uniqueId val="{00000004-B0BE-4556-9F64-F0F86D6DB525}"/>
            </c:ext>
          </c:extLst>
        </c:ser>
        <c:dLbls>
          <c:dLblPos val="outEnd"/>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2">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11/25/2025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0D3DFC-11A7-4DDF-8AEE-A5ACE051EBF3}" type="slidenum">
              <a:rPr lang="en-US" smtClean="0"/>
              <a:t>6</a:t>
            </a:fld>
            <a:endParaRPr lang="en-US" dirty="0"/>
          </a:p>
        </p:txBody>
      </p:sp>
    </p:spTree>
    <p:extLst>
      <p:ext uri="{BB962C8B-B14F-4D97-AF65-F5344CB8AC3E}">
        <p14:creationId xmlns:p14="http://schemas.microsoft.com/office/powerpoint/2010/main" val="2331499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7426A-527B-D552-3CD6-F6813607E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3418A-AAC5-A581-C670-F73DA2E46ED8}"/>
              </a:ext>
            </a:extLst>
          </p:cNvPr>
          <p:cNvSpPr>
            <a:spLocks noGrp="1" noRot="1" noChangeAspect="1"/>
          </p:cNvSpPr>
          <p:nvPr>
            <p:ph type="sldImg"/>
          </p:nvPr>
        </p:nvSpPr>
        <p:spPr>
          <a:xfrm>
            <a:off x="685800" y="1143000"/>
            <a:ext cx="5486400" cy="3086100"/>
          </a:xfrm>
        </p:spPr>
        <p:txBody>
          <a:bodyPr/>
          <a:lstStyle/>
          <a:p>
            <a:endParaRPr lang="en-IN"/>
          </a:p>
        </p:txBody>
      </p:sp>
      <p:sp>
        <p:nvSpPr>
          <p:cNvPr id="3" name="Notes Placeholder 2">
            <a:extLst>
              <a:ext uri="{FF2B5EF4-FFF2-40B4-BE49-F238E27FC236}">
                <a16:creationId xmlns:a16="http://schemas.microsoft.com/office/drawing/2014/main" id="{6292E235-731D-5C7D-9E63-3E991D1388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CE3512-0289-0733-F6FD-E4121BE86C79}"/>
              </a:ext>
            </a:extLst>
          </p:cNvPr>
          <p:cNvSpPr>
            <a:spLocks noGrp="1"/>
          </p:cNvSpPr>
          <p:nvPr>
            <p:ph type="sldNum" sz="quarter" idx="5"/>
          </p:nvPr>
        </p:nvSpPr>
        <p:spPr/>
        <p:txBody>
          <a:bodyPr/>
          <a:lstStyle/>
          <a:p>
            <a:fld id="{980D3DFC-11A7-4DDF-8AEE-A5ACE051EBF3}" type="slidenum">
              <a:rPr lang="en-US" smtClean="0"/>
              <a:t>7</a:t>
            </a:fld>
            <a:endParaRPr lang="en-US" dirty="0"/>
          </a:p>
        </p:txBody>
      </p:sp>
    </p:spTree>
    <p:extLst>
      <p:ext uri="{BB962C8B-B14F-4D97-AF65-F5344CB8AC3E}">
        <p14:creationId xmlns:p14="http://schemas.microsoft.com/office/powerpoint/2010/main" val="551796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7"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3" y="800102"/>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3" indent="0" algn="l">
              <a:lnSpc>
                <a:spcPct val="120000"/>
              </a:lnSpc>
              <a:spcBef>
                <a:spcPts val="0"/>
              </a:spcBef>
              <a:buNone/>
              <a:defRPr sz="20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5"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5"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5"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5"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5"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7" y="2441450"/>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1" y="2441450"/>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3" y="2441450"/>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7" y="2441450"/>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3" y="2441450"/>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3"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9"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4"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9"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3"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1" y="6527003"/>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2"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2"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3" y="800102"/>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5" y="809104"/>
            <a:ext cx="1798955" cy="2062163"/>
          </a:xfrm>
        </p:spPr>
        <p:txBody>
          <a:bodyPr anchor="t"/>
          <a:lstStyle>
            <a:lvl1pPr marL="0" indent="0">
              <a:buNone/>
              <a:defRPr sz="24999"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1" y="3957274"/>
            <a:ext cx="1798955" cy="2062163"/>
          </a:xfrm>
        </p:spPr>
        <p:txBody>
          <a:bodyPr/>
          <a:lstStyle>
            <a:lvl1pPr marL="0" indent="0">
              <a:buNone/>
              <a:defRPr sz="24999"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3"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9"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3" y="196763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2" y="433785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30" y="196763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9" y="433785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10" y="1965289"/>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9" y="433550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9" y="1965289"/>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8" y="433550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6" y="1637745"/>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6" y="292725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6" y="4277008"/>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6" y="55685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6" y="361118"/>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5"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5"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3" y="303005"/>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3" y="1579631"/>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3" y="286913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3" y="421782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3" y="55104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8"/>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5"/>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7" y="1924778"/>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2"/>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8" y="3880035"/>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90" y="1836536"/>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7" y="1836536"/>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5" y="1836536"/>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9" y="3813980"/>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6" y="3813980"/>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21"/>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4" y="2007886"/>
            <a:ext cx="6408671" cy="1330189"/>
          </a:xfrm>
        </p:spPr>
        <p:txBody>
          <a:bodyPr anchor="ctr"/>
          <a:lstStyle>
            <a:lvl1pPr marL="0" indent="-137157">
              <a:lnSpc>
                <a:spcPct val="100000"/>
              </a:lnSpc>
              <a:spcBef>
                <a:spcPts val="0"/>
              </a:spcBef>
              <a:buSzPct val="50000"/>
              <a:defRPr sz="1600"/>
            </a:lvl1pPr>
            <a:lvl2pPr marL="274313" indent="-137157">
              <a:lnSpc>
                <a:spcPct val="100000"/>
              </a:lnSpc>
              <a:spcBef>
                <a:spcPts val="0"/>
              </a:spcBef>
              <a:buSzPct val="50000"/>
              <a:defRPr sz="1400"/>
            </a:lvl2pPr>
            <a:lvl3pPr marL="411470" indent="-137157">
              <a:lnSpc>
                <a:spcPct val="100000"/>
              </a:lnSpc>
              <a:spcBef>
                <a:spcPts val="0"/>
              </a:spcBef>
              <a:buSzPct val="50000"/>
              <a:defRPr sz="1200"/>
            </a:lvl3pPr>
            <a:lvl4pPr marL="548626" indent="-137157">
              <a:lnSpc>
                <a:spcPct val="100000"/>
              </a:lnSpc>
              <a:spcBef>
                <a:spcPts val="0"/>
              </a:spcBef>
              <a:buSzPct val="50000"/>
              <a:defRPr sz="1100"/>
            </a:lvl4pPr>
            <a:lvl5pPr indent="-137157">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60"/>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4" y="4093422"/>
            <a:ext cx="6408671" cy="1330189"/>
          </a:xfrm>
        </p:spPr>
        <p:txBody>
          <a:bodyPr anchor="ctr"/>
          <a:lstStyle>
            <a:lvl1pPr marL="0" indent="-137157">
              <a:lnSpc>
                <a:spcPct val="100000"/>
              </a:lnSpc>
              <a:spcBef>
                <a:spcPts val="0"/>
              </a:spcBef>
              <a:buSzPct val="50000"/>
              <a:defRPr sz="1600"/>
            </a:lvl1pPr>
            <a:lvl2pPr marL="274313" indent="-137157">
              <a:lnSpc>
                <a:spcPct val="100000"/>
              </a:lnSpc>
              <a:spcBef>
                <a:spcPts val="0"/>
              </a:spcBef>
              <a:buSzPct val="50000"/>
              <a:defRPr sz="1400"/>
            </a:lvl2pPr>
            <a:lvl3pPr marL="411470" indent="-137157">
              <a:lnSpc>
                <a:spcPct val="100000"/>
              </a:lnSpc>
              <a:spcBef>
                <a:spcPts val="0"/>
              </a:spcBef>
              <a:buSzPct val="50000"/>
              <a:defRPr sz="1200"/>
            </a:lvl3pPr>
            <a:lvl4pPr marL="548626" indent="-137157">
              <a:lnSpc>
                <a:spcPct val="100000"/>
              </a:lnSpc>
              <a:spcBef>
                <a:spcPts val="0"/>
              </a:spcBef>
              <a:buSzPct val="50000"/>
              <a:defRPr sz="1100"/>
            </a:lvl4pPr>
            <a:lvl5pPr indent="-137157">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3"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3"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13" indent="-137157">
              <a:lnSpc>
                <a:spcPct val="100000"/>
              </a:lnSpc>
              <a:spcBef>
                <a:spcPts val="0"/>
              </a:spcBef>
              <a:buSzPct val="50000"/>
              <a:defRPr sz="1400"/>
            </a:lvl2pPr>
            <a:lvl3pPr marL="411470" indent="-137157">
              <a:lnSpc>
                <a:spcPct val="100000"/>
              </a:lnSpc>
              <a:spcBef>
                <a:spcPts val="0"/>
              </a:spcBef>
              <a:buSzPct val="50000"/>
              <a:defRPr sz="1200"/>
            </a:lvl3pPr>
            <a:lvl4pPr marL="548626" indent="-137157">
              <a:lnSpc>
                <a:spcPct val="100000"/>
              </a:lnSpc>
              <a:spcBef>
                <a:spcPts val="0"/>
              </a:spcBef>
              <a:buSzPct val="50000"/>
              <a:defRPr sz="1100"/>
            </a:lvl4pPr>
            <a:lvl5pPr indent="-137157">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5" y="2944368"/>
            <a:ext cx="4608576" cy="2785100"/>
          </a:xfrm>
        </p:spPr>
        <p:txBody>
          <a:bodyPr anchor="t"/>
          <a:lstStyle>
            <a:lvl1pPr marL="0" indent="0">
              <a:lnSpc>
                <a:spcPct val="100000"/>
              </a:lnSpc>
              <a:spcBef>
                <a:spcPts val="0"/>
              </a:spcBef>
              <a:buSzPct val="50000"/>
              <a:buNone/>
              <a:defRPr sz="1600"/>
            </a:lvl1pPr>
            <a:lvl2pPr marL="274313" indent="-137157">
              <a:lnSpc>
                <a:spcPct val="100000"/>
              </a:lnSpc>
              <a:spcBef>
                <a:spcPts val="0"/>
              </a:spcBef>
              <a:buSzPct val="50000"/>
              <a:defRPr sz="1400"/>
            </a:lvl2pPr>
            <a:lvl3pPr marL="411470" indent="-137157">
              <a:lnSpc>
                <a:spcPct val="100000"/>
              </a:lnSpc>
              <a:spcBef>
                <a:spcPts val="0"/>
              </a:spcBef>
              <a:buSzPct val="50000"/>
              <a:defRPr sz="1200"/>
            </a:lvl3pPr>
            <a:lvl4pPr marL="548626" indent="-137157">
              <a:lnSpc>
                <a:spcPct val="100000"/>
              </a:lnSpc>
              <a:spcBef>
                <a:spcPts val="0"/>
              </a:spcBef>
              <a:buSzPct val="50000"/>
              <a:defRPr sz="1100"/>
            </a:lvl4pPr>
            <a:lvl5pPr indent="-137157">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1" y="2106081"/>
            <a:ext cx="3249571"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1"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1"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13" indent="-137157">
              <a:lnSpc>
                <a:spcPct val="100000"/>
              </a:lnSpc>
              <a:spcBef>
                <a:spcPts val="0"/>
              </a:spcBef>
              <a:buSzPct val="50000"/>
              <a:defRPr sz="1400"/>
            </a:lvl2pPr>
            <a:lvl3pPr marL="411470" indent="-137157">
              <a:lnSpc>
                <a:spcPct val="100000"/>
              </a:lnSpc>
              <a:spcBef>
                <a:spcPts val="0"/>
              </a:spcBef>
              <a:buSzPct val="50000"/>
              <a:defRPr sz="1200"/>
            </a:lvl3pPr>
            <a:lvl4pPr marL="548626" indent="-137157">
              <a:lnSpc>
                <a:spcPct val="100000"/>
              </a:lnSpc>
              <a:spcBef>
                <a:spcPts val="0"/>
              </a:spcBef>
              <a:buSzPct val="50000"/>
              <a:defRPr sz="1100"/>
            </a:lvl4pPr>
            <a:lvl5pPr indent="-137157">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13" indent="-137157">
              <a:lnSpc>
                <a:spcPct val="100000"/>
              </a:lnSpc>
              <a:spcBef>
                <a:spcPts val="0"/>
              </a:spcBef>
              <a:buSzPct val="50000"/>
              <a:defRPr sz="1400"/>
            </a:lvl2pPr>
            <a:lvl3pPr marL="411470" indent="-137157">
              <a:lnSpc>
                <a:spcPct val="100000"/>
              </a:lnSpc>
              <a:spcBef>
                <a:spcPts val="0"/>
              </a:spcBef>
              <a:buSzPct val="50000"/>
              <a:defRPr sz="1200"/>
            </a:lvl3pPr>
            <a:lvl4pPr marL="548626" indent="-137157">
              <a:lnSpc>
                <a:spcPct val="100000"/>
              </a:lnSpc>
              <a:spcBef>
                <a:spcPts val="0"/>
              </a:spcBef>
              <a:buSzPct val="50000"/>
              <a:defRPr sz="1100"/>
            </a:lvl4pPr>
            <a:lvl5pPr indent="-137157">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5" y="2944368"/>
            <a:ext cx="2743200" cy="2785100"/>
          </a:xfrm>
        </p:spPr>
        <p:txBody>
          <a:bodyPr anchor="t"/>
          <a:lstStyle>
            <a:lvl1pPr marL="0" indent="0">
              <a:lnSpc>
                <a:spcPct val="100000"/>
              </a:lnSpc>
              <a:spcBef>
                <a:spcPts val="0"/>
              </a:spcBef>
              <a:buSzPct val="50000"/>
              <a:buNone/>
              <a:defRPr sz="1600"/>
            </a:lvl1pPr>
            <a:lvl2pPr marL="274313" indent="-137157">
              <a:lnSpc>
                <a:spcPct val="100000"/>
              </a:lnSpc>
              <a:spcBef>
                <a:spcPts val="0"/>
              </a:spcBef>
              <a:buSzPct val="50000"/>
              <a:defRPr sz="1400"/>
            </a:lvl2pPr>
            <a:lvl3pPr marL="411470" indent="-137157">
              <a:lnSpc>
                <a:spcPct val="100000"/>
              </a:lnSpc>
              <a:spcBef>
                <a:spcPts val="0"/>
              </a:spcBef>
              <a:buSzPct val="50000"/>
              <a:defRPr sz="1200"/>
            </a:lvl3pPr>
            <a:lvl4pPr marL="548626" indent="-137157">
              <a:lnSpc>
                <a:spcPct val="100000"/>
              </a:lnSpc>
              <a:spcBef>
                <a:spcPts val="0"/>
              </a:spcBef>
              <a:buSzPct val="50000"/>
              <a:defRPr sz="1100"/>
            </a:lvl4pPr>
            <a:lvl5pPr indent="-137157">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80"/>
            <a:ext cx="6114431"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5" y="838202"/>
            <a:ext cx="6114431"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9"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3"/>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7"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3" y="800102"/>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3"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377"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A4F37AB6-4681-D744-2F89-2949D08676DC}"/>
              </a:ext>
            </a:extLst>
          </p:cNvPr>
          <p:cNvSpPr>
            <a:spLocks noGrp="1"/>
          </p:cNvSpPr>
          <p:nvPr>
            <p:ph type="ctrTitle"/>
          </p:nvPr>
        </p:nvSpPr>
        <p:spPr/>
        <p:txBody>
          <a:bodyPr/>
          <a:lstStyle/>
          <a:p>
            <a:r>
              <a:rPr lang="en-US" dirty="0"/>
              <a:t>Social Media Analysis</a:t>
            </a:r>
          </a:p>
        </p:txBody>
      </p:sp>
      <p:sp>
        <p:nvSpPr>
          <p:cNvPr id="26" name="Subtitle 25">
            <a:extLst>
              <a:ext uri="{FF2B5EF4-FFF2-40B4-BE49-F238E27FC236}">
                <a16:creationId xmlns:a16="http://schemas.microsoft.com/office/drawing/2014/main" id="{06930851-3EE7-5B25-F590-CCB7467A2094}"/>
              </a:ext>
            </a:extLst>
          </p:cNvPr>
          <p:cNvSpPr>
            <a:spLocks noGrp="1"/>
          </p:cNvSpPr>
          <p:nvPr>
            <p:ph type="subTitle" idx="1"/>
          </p:nvPr>
        </p:nvSpPr>
        <p:spPr/>
        <p:txBody>
          <a:bodyPr/>
          <a:lstStyle/>
          <a:p>
            <a:r>
              <a:rPr lang="en-US" b="1" dirty="0">
                <a:latin typeface="+mj-lt"/>
              </a:rPr>
              <a:t>Fathima Arshi</a:t>
            </a:r>
          </a:p>
        </p:txBody>
      </p:sp>
      <p:pic>
        <p:nvPicPr>
          <p:cNvPr id="5" name="Picture Placeholder 4">
            <a:extLst>
              <a:ext uri="{FF2B5EF4-FFF2-40B4-BE49-F238E27FC236}">
                <a16:creationId xmlns:a16="http://schemas.microsoft.com/office/drawing/2014/main" id="{24F641F5-2C28-0631-ACDC-8FAAD9E3A00F}"/>
              </a:ext>
            </a:extLst>
          </p:cNvPr>
          <p:cNvPicPr>
            <a:picLocks noGrp="1" noChangeAspect="1"/>
          </p:cNvPicPr>
          <p:nvPr>
            <p:ph type="pic" sz="quarter" idx="10"/>
          </p:nvPr>
        </p:nvPicPr>
        <p:blipFill>
          <a:blip r:embed="rId2"/>
          <a:srcRect l="-2295" t="-20892" r="-10353" b="-23892"/>
          <a:stretch>
            <a:fillRect/>
          </a:stretch>
        </p:blipFill>
        <p:spPr>
          <a:xfrm>
            <a:off x="7246779" y="812292"/>
            <a:ext cx="3834628" cy="4928616"/>
          </a:xfrm>
        </p:spPr>
      </p:pic>
    </p:spTree>
    <p:extLst>
      <p:ext uri="{BB962C8B-B14F-4D97-AF65-F5344CB8AC3E}">
        <p14:creationId xmlns:p14="http://schemas.microsoft.com/office/powerpoint/2010/main" val="409702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B3421-27E8-64F7-C72E-A20B3B5BFD28}"/>
              </a:ext>
            </a:extLst>
          </p:cNvPr>
          <p:cNvSpPr>
            <a:spLocks noGrp="1"/>
          </p:cNvSpPr>
          <p:nvPr>
            <p:ph type="title"/>
          </p:nvPr>
        </p:nvSpPr>
        <p:spPr/>
        <p:txBody>
          <a:bodyPr/>
          <a:lstStyle/>
          <a:p>
            <a:r>
              <a:rPr lang="en-US" dirty="0"/>
              <a:t>CONTENTS</a:t>
            </a:r>
          </a:p>
        </p:txBody>
      </p:sp>
      <p:sp>
        <p:nvSpPr>
          <p:cNvPr id="3" name="Text Placeholder 2">
            <a:extLst>
              <a:ext uri="{FF2B5EF4-FFF2-40B4-BE49-F238E27FC236}">
                <a16:creationId xmlns:a16="http://schemas.microsoft.com/office/drawing/2014/main" id="{6FFCC227-AEF6-4194-577B-C14BE9F08F99}"/>
              </a:ext>
            </a:extLst>
          </p:cNvPr>
          <p:cNvSpPr>
            <a:spLocks noGrp="1"/>
          </p:cNvSpPr>
          <p:nvPr>
            <p:ph type="body" sz="quarter" idx="13"/>
          </p:nvPr>
        </p:nvSpPr>
        <p:spPr/>
        <p:txBody>
          <a:bodyPr/>
          <a:lstStyle/>
          <a:p>
            <a:r>
              <a:rPr lang="en-US" dirty="0"/>
              <a:t>1</a:t>
            </a:r>
          </a:p>
        </p:txBody>
      </p:sp>
      <p:sp>
        <p:nvSpPr>
          <p:cNvPr id="4" name="Text Placeholder 3">
            <a:extLst>
              <a:ext uri="{FF2B5EF4-FFF2-40B4-BE49-F238E27FC236}">
                <a16:creationId xmlns:a16="http://schemas.microsoft.com/office/drawing/2014/main" id="{EDA1DEE7-E7EE-60E4-4393-4B4043EFAC72}"/>
              </a:ext>
            </a:extLst>
          </p:cNvPr>
          <p:cNvSpPr>
            <a:spLocks noGrp="1"/>
          </p:cNvSpPr>
          <p:nvPr>
            <p:ph type="body" sz="quarter" idx="14"/>
          </p:nvPr>
        </p:nvSpPr>
        <p:spPr/>
        <p:txBody>
          <a:bodyPr/>
          <a:lstStyle/>
          <a:p>
            <a:r>
              <a:rPr lang="en-US" dirty="0"/>
              <a:t>2</a:t>
            </a:r>
          </a:p>
        </p:txBody>
      </p:sp>
      <p:sp>
        <p:nvSpPr>
          <p:cNvPr id="5" name="Text Placeholder 4">
            <a:extLst>
              <a:ext uri="{FF2B5EF4-FFF2-40B4-BE49-F238E27FC236}">
                <a16:creationId xmlns:a16="http://schemas.microsoft.com/office/drawing/2014/main" id="{0D7E0F31-9524-2A85-6CB5-22AF4974A1F5}"/>
              </a:ext>
            </a:extLst>
          </p:cNvPr>
          <p:cNvSpPr>
            <a:spLocks noGrp="1"/>
          </p:cNvSpPr>
          <p:nvPr>
            <p:ph type="body" sz="quarter" idx="15"/>
          </p:nvPr>
        </p:nvSpPr>
        <p:spPr/>
        <p:txBody>
          <a:bodyPr/>
          <a:lstStyle/>
          <a:p>
            <a:r>
              <a:rPr lang="en-US" dirty="0"/>
              <a:t>3</a:t>
            </a:r>
          </a:p>
        </p:txBody>
      </p:sp>
      <p:sp>
        <p:nvSpPr>
          <p:cNvPr id="6" name="Text Placeholder 5">
            <a:extLst>
              <a:ext uri="{FF2B5EF4-FFF2-40B4-BE49-F238E27FC236}">
                <a16:creationId xmlns:a16="http://schemas.microsoft.com/office/drawing/2014/main" id="{79D4236D-E11C-38FC-772B-CE8903600265}"/>
              </a:ext>
            </a:extLst>
          </p:cNvPr>
          <p:cNvSpPr>
            <a:spLocks noGrp="1"/>
          </p:cNvSpPr>
          <p:nvPr>
            <p:ph type="body" sz="quarter" idx="16"/>
          </p:nvPr>
        </p:nvSpPr>
        <p:spPr/>
        <p:txBody>
          <a:bodyPr/>
          <a:lstStyle/>
          <a:p>
            <a:r>
              <a:rPr lang="en-US" dirty="0"/>
              <a:t>4</a:t>
            </a:r>
          </a:p>
        </p:txBody>
      </p:sp>
      <p:sp>
        <p:nvSpPr>
          <p:cNvPr id="7" name="Text Placeholder 6">
            <a:extLst>
              <a:ext uri="{FF2B5EF4-FFF2-40B4-BE49-F238E27FC236}">
                <a16:creationId xmlns:a16="http://schemas.microsoft.com/office/drawing/2014/main" id="{2FC2164E-29EB-0A75-9DCC-C2F08040A581}"/>
              </a:ext>
            </a:extLst>
          </p:cNvPr>
          <p:cNvSpPr>
            <a:spLocks noGrp="1"/>
          </p:cNvSpPr>
          <p:nvPr>
            <p:ph type="body" sz="quarter" idx="17"/>
          </p:nvPr>
        </p:nvSpPr>
        <p:spPr/>
        <p:txBody>
          <a:bodyPr/>
          <a:lstStyle/>
          <a:p>
            <a:r>
              <a:rPr lang="en-US" dirty="0"/>
              <a:t>5</a:t>
            </a:r>
          </a:p>
        </p:txBody>
      </p:sp>
      <p:sp>
        <p:nvSpPr>
          <p:cNvPr id="8" name="Text Placeholder 7">
            <a:extLst>
              <a:ext uri="{FF2B5EF4-FFF2-40B4-BE49-F238E27FC236}">
                <a16:creationId xmlns:a16="http://schemas.microsoft.com/office/drawing/2014/main" id="{06974E3C-F63F-9F93-EE35-CD5E465CD080}"/>
              </a:ext>
            </a:extLst>
          </p:cNvPr>
          <p:cNvSpPr>
            <a:spLocks noGrp="1"/>
          </p:cNvSpPr>
          <p:nvPr>
            <p:ph type="body" sz="quarter" idx="18"/>
          </p:nvPr>
        </p:nvSpPr>
        <p:spPr/>
        <p:txBody>
          <a:bodyPr/>
          <a:lstStyle/>
          <a:p>
            <a:r>
              <a:rPr lang="en-US" dirty="0"/>
              <a:t>About META</a:t>
            </a:r>
          </a:p>
        </p:txBody>
      </p:sp>
      <p:sp>
        <p:nvSpPr>
          <p:cNvPr id="9" name="Text Placeholder 8">
            <a:extLst>
              <a:ext uri="{FF2B5EF4-FFF2-40B4-BE49-F238E27FC236}">
                <a16:creationId xmlns:a16="http://schemas.microsoft.com/office/drawing/2014/main" id="{482D95C9-142A-BF9A-3602-F4AB11608174}"/>
              </a:ext>
            </a:extLst>
          </p:cNvPr>
          <p:cNvSpPr>
            <a:spLocks noGrp="1"/>
          </p:cNvSpPr>
          <p:nvPr>
            <p:ph type="body" sz="quarter" idx="19"/>
          </p:nvPr>
        </p:nvSpPr>
        <p:spPr/>
        <p:txBody>
          <a:bodyPr/>
          <a:lstStyle/>
          <a:p>
            <a:r>
              <a:rPr lang="en-US" dirty="0"/>
              <a:t>Data Overview</a:t>
            </a:r>
          </a:p>
        </p:txBody>
      </p:sp>
      <p:sp>
        <p:nvSpPr>
          <p:cNvPr id="10" name="Text Placeholder 9">
            <a:extLst>
              <a:ext uri="{FF2B5EF4-FFF2-40B4-BE49-F238E27FC236}">
                <a16:creationId xmlns:a16="http://schemas.microsoft.com/office/drawing/2014/main" id="{DD2F5204-1928-06AD-9878-6DD27D5DF27D}"/>
              </a:ext>
            </a:extLst>
          </p:cNvPr>
          <p:cNvSpPr>
            <a:spLocks noGrp="1"/>
          </p:cNvSpPr>
          <p:nvPr>
            <p:ph type="body" sz="quarter" idx="20"/>
          </p:nvPr>
        </p:nvSpPr>
        <p:spPr/>
        <p:txBody>
          <a:bodyPr/>
          <a:lstStyle/>
          <a:p>
            <a:r>
              <a:rPr lang="en-US" dirty="0"/>
              <a:t>Problem statement</a:t>
            </a:r>
          </a:p>
          <a:p>
            <a:r>
              <a:rPr lang="en-US" dirty="0"/>
              <a:t>&amp; Approach</a:t>
            </a:r>
          </a:p>
        </p:txBody>
      </p:sp>
      <p:sp>
        <p:nvSpPr>
          <p:cNvPr id="11" name="Text Placeholder 10">
            <a:extLst>
              <a:ext uri="{FF2B5EF4-FFF2-40B4-BE49-F238E27FC236}">
                <a16:creationId xmlns:a16="http://schemas.microsoft.com/office/drawing/2014/main" id="{64977FAA-28B8-34BB-09CE-CCE6C8C73D62}"/>
              </a:ext>
            </a:extLst>
          </p:cNvPr>
          <p:cNvSpPr>
            <a:spLocks noGrp="1"/>
          </p:cNvSpPr>
          <p:nvPr>
            <p:ph type="body" sz="quarter" idx="21"/>
          </p:nvPr>
        </p:nvSpPr>
        <p:spPr/>
        <p:txBody>
          <a:bodyPr/>
          <a:lstStyle/>
          <a:p>
            <a:r>
              <a:rPr lang="en-US" dirty="0"/>
              <a:t>Analysis,</a:t>
            </a:r>
          </a:p>
          <a:p>
            <a:r>
              <a:rPr lang="en-US" dirty="0"/>
              <a:t>Campaigns and Projections</a:t>
            </a:r>
          </a:p>
        </p:txBody>
      </p:sp>
      <p:sp>
        <p:nvSpPr>
          <p:cNvPr id="12" name="Text Placeholder 11">
            <a:extLst>
              <a:ext uri="{FF2B5EF4-FFF2-40B4-BE49-F238E27FC236}">
                <a16:creationId xmlns:a16="http://schemas.microsoft.com/office/drawing/2014/main" id="{8B9D1FB0-0B3C-DCCA-CB4F-4FEAE1317B81}"/>
              </a:ext>
            </a:extLst>
          </p:cNvPr>
          <p:cNvSpPr>
            <a:spLocks noGrp="1"/>
          </p:cNvSpPr>
          <p:nvPr>
            <p:ph type="body" sz="quarter" idx="22"/>
          </p:nvPr>
        </p:nvSpPr>
        <p:spPr/>
        <p:txBody>
          <a:bodyPr/>
          <a:lstStyle/>
          <a:p>
            <a:r>
              <a:rPr lang="en-US" dirty="0"/>
              <a:t>Conclusion</a:t>
            </a:r>
          </a:p>
        </p:txBody>
      </p:sp>
      <p:sp>
        <p:nvSpPr>
          <p:cNvPr id="15" name="Slide Number Placeholder 14">
            <a:extLst>
              <a:ext uri="{FF2B5EF4-FFF2-40B4-BE49-F238E27FC236}">
                <a16:creationId xmlns:a16="http://schemas.microsoft.com/office/drawing/2014/main" id="{9EB92BE4-4ECF-AA5A-EBFA-AC2DBA93582C}"/>
              </a:ext>
            </a:extLst>
          </p:cNvPr>
          <p:cNvSpPr>
            <a:spLocks noGrp="1"/>
          </p:cNvSpPr>
          <p:nvPr>
            <p:ph type="sldNum" sz="quarter" idx="12"/>
          </p:nvPr>
        </p:nvSpPr>
        <p:spPr/>
        <p:txBody>
          <a:bodyPr/>
          <a:lstStyle/>
          <a:p>
            <a:fld id="{8D0AFDD5-844D-364D-8AEC-50CF4D36D55D}" type="slidenum">
              <a:rPr lang="en-US" smtClean="0"/>
              <a:pPr/>
              <a:t>2</a:t>
            </a:fld>
            <a:endParaRPr lang="en-US" dirty="0"/>
          </a:p>
        </p:txBody>
      </p:sp>
      <p:sp>
        <p:nvSpPr>
          <p:cNvPr id="14" name="Footer Placeholder 13">
            <a:extLst>
              <a:ext uri="{FF2B5EF4-FFF2-40B4-BE49-F238E27FC236}">
                <a16:creationId xmlns:a16="http://schemas.microsoft.com/office/drawing/2014/main" id="{DE3B97B2-F540-9F02-5569-597A7E7B6E59}"/>
              </a:ext>
            </a:extLst>
          </p:cNvPr>
          <p:cNvSpPr>
            <a:spLocks noGrp="1"/>
          </p:cNvSpPr>
          <p:nvPr>
            <p:ph type="ftr" sz="quarter" idx="11"/>
          </p:nvPr>
        </p:nvSpPr>
        <p:spPr/>
        <p:txBody>
          <a:bodyPr/>
          <a:lstStyle/>
          <a:p>
            <a:r>
              <a:rPr lang="en-US" dirty="0"/>
              <a:t>Presentation title</a:t>
            </a:r>
          </a:p>
        </p:txBody>
      </p:sp>
      <p:sp>
        <p:nvSpPr>
          <p:cNvPr id="13" name="Date Placeholder 12">
            <a:extLst>
              <a:ext uri="{FF2B5EF4-FFF2-40B4-BE49-F238E27FC236}">
                <a16:creationId xmlns:a16="http://schemas.microsoft.com/office/drawing/2014/main" id="{8FA1C40B-4426-2DD0-CFB0-3E30E9C28215}"/>
              </a:ext>
            </a:extLst>
          </p:cNvPr>
          <p:cNvSpPr>
            <a:spLocks noGrp="1"/>
          </p:cNvSpPr>
          <p:nvPr>
            <p:ph type="dt" sz="half" idx="10"/>
          </p:nvPr>
        </p:nvSpPr>
        <p:spPr/>
        <p:txBody>
          <a:bodyPr/>
          <a:lstStyle/>
          <a:p>
            <a:r>
              <a:rPr lang="en-US" dirty="0"/>
              <a:t>20XX</a:t>
            </a:r>
          </a:p>
        </p:txBody>
      </p:sp>
    </p:spTree>
    <p:extLst>
      <p:ext uri="{BB962C8B-B14F-4D97-AF65-F5344CB8AC3E}">
        <p14:creationId xmlns:p14="http://schemas.microsoft.com/office/powerpoint/2010/main" val="681978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8D832-9278-00A7-7BD4-F119C7260E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9025EF-FB55-8D7E-FD61-B09902BC052B}"/>
              </a:ext>
            </a:extLst>
          </p:cNvPr>
          <p:cNvSpPr>
            <a:spLocks noGrp="1"/>
          </p:cNvSpPr>
          <p:nvPr>
            <p:ph type="title"/>
          </p:nvPr>
        </p:nvSpPr>
        <p:spPr>
          <a:xfrm>
            <a:off x="1298448" y="1093776"/>
            <a:ext cx="5038344" cy="713232"/>
          </a:xfrm>
        </p:spPr>
        <p:txBody>
          <a:bodyPr/>
          <a:lstStyle/>
          <a:p>
            <a:r>
              <a:rPr lang="en-US" sz="3200" b="1" dirty="0"/>
              <a:t>About META</a:t>
            </a:r>
          </a:p>
        </p:txBody>
      </p:sp>
      <p:sp>
        <p:nvSpPr>
          <p:cNvPr id="4" name="Content Placeholder 3">
            <a:extLst>
              <a:ext uri="{FF2B5EF4-FFF2-40B4-BE49-F238E27FC236}">
                <a16:creationId xmlns:a16="http://schemas.microsoft.com/office/drawing/2014/main" id="{FA2B9DC7-5AE9-C77F-97F1-A12E70186AE0}"/>
              </a:ext>
            </a:extLst>
          </p:cNvPr>
          <p:cNvSpPr>
            <a:spLocks noGrp="1"/>
          </p:cNvSpPr>
          <p:nvPr>
            <p:ph idx="1"/>
          </p:nvPr>
        </p:nvSpPr>
        <p:spPr>
          <a:xfrm>
            <a:off x="1219200" y="1718059"/>
            <a:ext cx="6057392" cy="2130552"/>
          </a:xfrm>
        </p:spPr>
        <p:txBody>
          <a:bodyPr/>
          <a:lstStyle/>
          <a:p>
            <a:pPr>
              <a:lnSpc>
                <a:spcPct val="150000"/>
              </a:lnSpc>
            </a:pPr>
            <a:r>
              <a:rPr lang="en-US" dirty="0">
                <a:latin typeface="+mj-lt"/>
              </a:rPr>
              <a:t>Meta is a global technology leader focused on building innovative platforms that enable people to connect, communicate, and create digital communities. Its ecosystem—including Facebook, Instagram, WhatsApp, and Reality Labs—empowers billions of users worldwide. Instagram, one of Meta’s fastest-growing platforms, plays a crucial role in visual storytelling and community engagement. With millions of daily interactions, Instagram provides valuable insights into user behavior that can drive meaningful marketing strategies and business growth.</a:t>
            </a:r>
          </a:p>
        </p:txBody>
      </p:sp>
      <p:sp>
        <p:nvSpPr>
          <p:cNvPr id="7" name="Slide Number Placeholder 6">
            <a:extLst>
              <a:ext uri="{FF2B5EF4-FFF2-40B4-BE49-F238E27FC236}">
                <a16:creationId xmlns:a16="http://schemas.microsoft.com/office/drawing/2014/main" id="{84FC4226-DEA9-F968-09AD-66BE5E57DE6A}"/>
              </a:ext>
            </a:extLst>
          </p:cNvPr>
          <p:cNvSpPr>
            <a:spLocks noGrp="1"/>
          </p:cNvSpPr>
          <p:nvPr>
            <p:ph type="sldNum" sz="quarter" idx="12"/>
          </p:nvPr>
        </p:nvSpPr>
        <p:spPr>
          <a:xfrm>
            <a:off x="3962400" y="6400904"/>
            <a:ext cx="365760" cy="246888"/>
          </a:xfrm>
        </p:spPr>
        <p:txBody>
          <a:bodyPr/>
          <a:lstStyle/>
          <a:p>
            <a:fld id="{8D0AFDD5-844D-364D-8AEC-50CF4D36D55D}" type="slidenum">
              <a:rPr lang="en-US" smtClean="0"/>
              <a:pPr/>
              <a:t>3</a:t>
            </a:fld>
            <a:endParaRPr lang="en-US" dirty="0"/>
          </a:p>
        </p:txBody>
      </p:sp>
      <p:pic>
        <p:nvPicPr>
          <p:cNvPr id="9" name="Picture 8">
            <a:extLst>
              <a:ext uri="{FF2B5EF4-FFF2-40B4-BE49-F238E27FC236}">
                <a16:creationId xmlns:a16="http://schemas.microsoft.com/office/drawing/2014/main" id="{06E77C4E-CA9E-E233-D7FE-00C7429E7F23}"/>
              </a:ext>
            </a:extLst>
          </p:cNvPr>
          <p:cNvPicPr>
            <a:picLocks noChangeAspect="1"/>
          </p:cNvPicPr>
          <p:nvPr/>
        </p:nvPicPr>
        <p:blipFill>
          <a:blip r:embed="rId2"/>
          <a:srcRect t="37437" r="65529" b="32612"/>
          <a:stretch>
            <a:fillRect/>
          </a:stretch>
        </p:blipFill>
        <p:spPr>
          <a:xfrm>
            <a:off x="9022080" y="2526025"/>
            <a:ext cx="1950720" cy="1304297"/>
          </a:xfrm>
          <a:prstGeom prst="rect">
            <a:avLst/>
          </a:prstGeom>
        </p:spPr>
      </p:pic>
      <p:pic>
        <p:nvPicPr>
          <p:cNvPr id="10" name="Picture 9">
            <a:extLst>
              <a:ext uri="{FF2B5EF4-FFF2-40B4-BE49-F238E27FC236}">
                <a16:creationId xmlns:a16="http://schemas.microsoft.com/office/drawing/2014/main" id="{8956D45C-CB7B-FD8F-BF54-7F67EF202805}"/>
              </a:ext>
            </a:extLst>
          </p:cNvPr>
          <p:cNvPicPr>
            <a:picLocks noChangeAspect="1"/>
          </p:cNvPicPr>
          <p:nvPr/>
        </p:nvPicPr>
        <p:blipFill>
          <a:blip r:embed="rId2"/>
          <a:srcRect l="33753" t="35571" r="-1259" b="34479"/>
          <a:stretch>
            <a:fillRect/>
          </a:stretch>
        </p:blipFill>
        <p:spPr>
          <a:xfrm>
            <a:off x="8557488" y="3693161"/>
            <a:ext cx="3001824" cy="1024897"/>
          </a:xfrm>
          <a:prstGeom prst="rect">
            <a:avLst/>
          </a:prstGeom>
        </p:spPr>
      </p:pic>
    </p:spTree>
    <p:extLst>
      <p:ext uri="{BB962C8B-B14F-4D97-AF65-F5344CB8AC3E}">
        <p14:creationId xmlns:p14="http://schemas.microsoft.com/office/powerpoint/2010/main" val="515535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8EA20-3B98-E802-6D4C-1212710F61FC}"/>
              </a:ext>
            </a:extLst>
          </p:cNvPr>
          <p:cNvSpPr>
            <a:spLocks noGrp="1"/>
          </p:cNvSpPr>
          <p:nvPr>
            <p:ph type="title"/>
          </p:nvPr>
        </p:nvSpPr>
        <p:spPr>
          <a:xfrm>
            <a:off x="1203960" y="556989"/>
            <a:ext cx="3213387" cy="658050"/>
          </a:xfrm>
        </p:spPr>
        <p:txBody>
          <a:bodyPr/>
          <a:lstStyle/>
          <a:p>
            <a:pPr algn="l"/>
            <a:r>
              <a:rPr lang="en-IN" sz="3200" b="1" dirty="0"/>
              <a:t>Data overview</a:t>
            </a:r>
          </a:p>
        </p:txBody>
      </p:sp>
      <p:sp>
        <p:nvSpPr>
          <p:cNvPr id="4" name="Slide Number Placeholder 3">
            <a:extLst>
              <a:ext uri="{FF2B5EF4-FFF2-40B4-BE49-F238E27FC236}">
                <a16:creationId xmlns:a16="http://schemas.microsoft.com/office/drawing/2014/main" id="{470D8A7D-85DF-273E-7CB3-72B686C25416}"/>
              </a:ext>
            </a:extLst>
          </p:cNvPr>
          <p:cNvSpPr>
            <a:spLocks noGrp="1"/>
          </p:cNvSpPr>
          <p:nvPr>
            <p:ph type="sldNum" sz="quarter" idx="12"/>
          </p:nvPr>
        </p:nvSpPr>
        <p:spPr/>
        <p:txBody>
          <a:bodyPr/>
          <a:lstStyle/>
          <a:p>
            <a:fld id="{8D0AFDD5-844D-364D-8AEC-50CF4D36D55D}" type="slidenum">
              <a:rPr lang="en-US" noProof="0" smtClean="0"/>
              <a:t>4</a:t>
            </a:fld>
            <a:endParaRPr lang="en-US" noProof="0"/>
          </a:p>
        </p:txBody>
      </p:sp>
      <p:sp>
        <p:nvSpPr>
          <p:cNvPr id="5" name="Footer Placeholder 4">
            <a:extLst>
              <a:ext uri="{FF2B5EF4-FFF2-40B4-BE49-F238E27FC236}">
                <a16:creationId xmlns:a16="http://schemas.microsoft.com/office/drawing/2014/main" id="{CA759BF0-BBF3-DC6D-2B5A-B7079A85662C}"/>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3C95D2EA-2924-D570-546B-2A2CAA840284}"/>
              </a:ext>
            </a:extLst>
          </p:cNvPr>
          <p:cNvSpPr>
            <a:spLocks noGrp="1"/>
          </p:cNvSpPr>
          <p:nvPr>
            <p:ph type="dt" sz="half" idx="10"/>
          </p:nvPr>
        </p:nvSpPr>
        <p:spPr/>
        <p:txBody>
          <a:bodyPr/>
          <a:lstStyle/>
          <a:p>
            <a:r>
              <a:rPr lang="en-US" noProof="0"/>
              <a:t>20XX</a:t>
            </a:r>
          </a:p>
        </p:txBody>
      </p:sp>
      <p:pic>
        <p:nvPicPr>
          <p:cNvPr id="7" name="Google Shape;93;p5">
            <a:extLst>
              <a:ext uri="{FF2B5EF4-FFF2-40B4-BE49-F238E27FC236}">
                <a16:creationId xmlns:a16="http://schemas.microsoft.com/office/drawing/2014/main" id="{3E6FB0B6-A488-28BF-AA0D-4FED87EC9B0F}"/>
              </a:ext>
            </a:extLst>
          </p:cNvPr>
          <p:cNvPicPr preferRelativeResize="0">
            <a:picLocks noGrp="1"/>
          </p:cNvPicPr>
          <p:nvPr>
            <p:ph idx="1"/>
          </p:nvPr>
        </p:nvPicPr>
        <p:blipFill rotWithShape="1">
          <a:blip r:embed="rId2">
            <a:alphaModFix/>
          </a:blip>
          <a:srcRect/>
          <a:stretch/>
        </p:blipFill>
        <p:spPr>
          <a:xfrm>
            <a:off x="1139952" y="1527048"/>
            <a:ext cx="4210908" cy="4160838"/>
          </a:xfrm>
          <a:prstGeom prst="rect">
            <a:avLst/>
          </a:prstGeom>
          <a:noFill/>
          <a:ln>
            <a:noFill/>
          </a:ln>
        </p:spPr>
      </p:pic>
      <p:sp>
        <p:nvSpPr>
          <p:cNvPr id="8" name="TextBox 7">
            <a:extLst>
              <a:ext uri="{FF2B5EF4-FFF2-40B4-BE49-F238E27FC236}">
                <a16:creationId xmlns:a16="http://schemas.microsoft.com/office/drawing/2014/main" id="{09EF55CE-FD2B-E0CA-52C4-AEED2CEB2EF6}"/>
              </a:ext>
            </a:extLst>
          </p:cNvPr>
          <p:cNvSpPr txBox="1"/>
          <p:nvPr/>
        </p:nvSpPr>
        <p:spPr>
          <a:xfrm>
            <a:off x="5974079" y="1527048"/>
            <a:ext cx="5295145" cy="4031873"/>
          </a:xfrm>
          <a:prstGeom prst="rect">
            <a:avLst/>
          </a:prstGeom>
          <a:noFill/>
        </p:spPr>
        <p:txBody>
          <a:bodyPr wrap="square" rtlCol="0">
            <a:spAutoFit/>
          </a:bodyPr>
          <a:lstStyle/>
          <a:p>
            <a:pPr marL="120650" lvl="0">
              <a:lnSpc>
                <a:spcPct val="150000"/>
              </a:lnSpc>
              <a:buClr>
                <a:schemeClr val="lt1"/>
              </a:buClr>
              <a:buSzPts val="1700"/>
            </a:pPr>
            <a:r>
              <a:rPr lang="en-US" sz="1600" dirty="0">
                <a:latin typeface="+mj-lt"/>
                <a:ea typeface="Times New Roman"/>
                <a:cs typeface="Times New Roman"/>
                <a:sym typeface="Times New Roman"/>
              </a:rPr>
              <a:t>1. Total 7 Tables are present in the given dataset.</a:t>
            </a:r>
          </a:p>
          <a:p>
            <a:pPr marL="120650" lvl="0">
              <a:lnSpc>
                <a:spcPct val="150000"/>
              </a:lnSpc>
              <a:buClr>
                <a:schemeClr val="lt1"/>
              </a:buClr>
              <a:buSzPts val="1700"/>
            </a:pPr>
            <a:r>
              <a:rPr lang="en-US" sz="1600" dirty="0">
                <a:latin typeface="+mj-lt"/>
                <a:ea typeface="Times New Roman"/>
                <a:cs typeface="Times New Roman"/>
                <a:sym typeface="Times New Roman"/>
              </a:rPr>
              <a:t>2. Total number users are 100.</a:t>
            </a:r>
          </a:p>
          <a:p>
            <a:pPr marL="120650" lvl="0">
              <a:lnSpc>
                <a:spcPct val="150000"/>
              </a:lnSpc>
              <a:buClr>
                <a:schemeClr val="lt1"/>
              </a:buClr>
              <a:buSzPts val="1700"/>
            </a:pPr>
            <a:r>
              <a:rPr lang="en-US" sz="1600" dirty="0">
                <a:latin typeface="+mj-lt"/>
                <a:ea typeface="Times New Roman"/>
                <a:cs typeface="Times New Roman"/>
                <a:sym typeface="Times New Roman"/>
              </a:rPr>
              <a:t>3. Total number of posts made so far is 257.</a:t>
            </a:r>
          </a:p>
          <a:p>
            <a:pPr marL="120650" lvl="0">
              <a:lnSpc>
                <a:spcPct val="150000"/>
              </a:lnSpc>
              <a:buClr>
                <a:schemeClr val="lt1"/>
              </a:buClr>
              <a:buSzPts val="1700"/>
            </a:pPr>
            <a:r>
              <a:rPr lang="en-US" sz="1600" dirty="0">
                <a:latin typeface="+mj-lt"/>
                <a:ea typeface="Times New Roman"/>
                <a:cs typeface="Times New Roman"/>
                <a:sym typeface="Times New Roman"/>
              </a:rPr>
              <a:t>4. Total number of likes posted by the users on posts is 8782.</a:t>
            </a:r>
          </a:p>
          <a:p>
            <a:pPr marL="120650" lvl="0">
              <a:lnSpc>
                <a:spcPct val="150000"/>
              </a:lnSpc>
              <a:buClr>
                <a:schemeClr val="lt1"/>
              </a:buClr>
              <a:buSzPts val="1700"/>
            </a:pPr>
            <a:r>
              <a:rPr lang="en-US" sz="1600" dirty="0">
                <a:latin typeface="+mj-lt"/>
                <a:ea typeface="Times New Roman"/>
                <a:cs typeface="Times New Roman"/>
                <a:sym typeface="Times New Roman"/>
              </a:rPr>
              <a:t>5. Total number of comments on all posts are 7488.</a:t>
            </a:r>
          </a:p>
          <a:p>
            <a:pPr marL="120650" lvl="0">
              <a:lnSpc>
                <a:spcPct val="150000"/>
              </a:lnSpc>
              <a:buClr>
                <a:schemeClr val="lt1"/>
              </a:buClr>
              <a:buSzPts val="1700"/>
            </a:pPr>
            <a:r>
              <a:rPr lang="en-US" sz="1600" dirty="0">
                <a:latin typeface="+mj-lt"/>
                <a:ea typeface="Times New Roman"/>
                <a:cs typeface="Times New Roman"/>
                <a:sym typeface="Times New Roman"/>
              </a:rPr>
              <a:t>6. Total number of engagement is calculated by adding total likes and total comments by an user.</a:t>
            </a:r>
          </a:p>
          <a:p>
            <a:pPr marL="120650" lvl="0">
              <a:lnSpc>
                <a:spcPct val="150000"/>
              </a:lnSpc>
              <a:buClr>
                <a:schemeClr val="lt1"/>
              </a:buClr>
              <a:buSzPts val="1700"/>
            </a:pPr>
            <a:r>
              <a:rPr lang="en-US" sz="1600" dirty="0">
                <a:latin typeface="+mj-lt"/>
                <a:ea typeface="Times New Roman"/>
                <a:cs typeface="Times New Roman"/>
                <a:sym typeface="Times New Roman"/>
              </a:rPr>
              <a:t>7. Engagement rate is calculated by dividing total engagements by number of posts.</a:t>
            </a:r>
          </a:p>
          <a:p>
            <a:endParaRPr lang="en-IN" sz="1600" dirty="0">
              <a:latin typeface="+mj-lt"/>
            </a:endParaRPr>
          </a:p>
        </p:txBody>
      </p:sp>
    </p:spTree>
    <p:extLst>
      <p:ext uri="{BB962C8B-B14F-4D97-AF65-F5344CB8AC3E}">
        <p14:creationId xmlns:p14="http://schemas.microsoft.com/office/powerpoint/2010/main" val="3446151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AD6B-0EBB-7092-13C6-240F8A4A4E99}"/>
              </a:ext>
            </a:extLst>
          </p:cNvPr>
          <p:cNvSpPr>
            <a:spLocks noGrp="1"/>
          </p:cNvSpPr>
          <p:nvPr>
            <p:ph type="title"/>
          </p:nvPr>
        </p:nvSpPr>
        <p:spPr>
          <a:xfrm>
            <a:off x="5820956" y="1079780"/>
            <a:ext cx="4959821" cy="667741"/>
          </a:xfrm>
        </p:spPr>
        <p:txBody>
          <a:bodyPr/>
          <a:lstStyle/>
          <a:p>
            <a:r>
              <a:rPr lang="en-GB" sz="3200" b="1" dirty="0">
                <a:ea typeface="DM Serif Text"/>
                <a:cs typeface="DM Serif Text"/>
                <a:sym typeface="DM Serif Text"/>
              </a:rPr>
              <a:t>Problem</a:t>
            </a:r>
            <a:br>
              <a:rPr lang="en-GB" sz="3200" b="1" dirty="0">
                <a:ea typeface="DM Serif Text"/>
                <a:cs typeface="DM Serif Text"/>
                <a:sym typeface="DM Serif Text"/>
              </a:rPr>
            </a:br>
            <a:r>
              <a:rPr lang="en-GB" sz="3200" b="1" dirty="0">
                <a:ea typeface="DM Serif Text"/>
                <a:cs typeface="DM Serif Text"/>
                <a:sym typeface="DM Serif Text"/>
              </a:rPr>
              <a:t>Statement</a:t>
            </a:r>
            <a:endParaRPr lang="en-US" sz="3200" b="1" dirty="0"/>
          </a:p>
        </p:txBody>
      </p:sp>
      <p:sp>
        <p:nvSpPr>
          <p:cNvPr id="3" name="Content Placeholder 2">
            <a:extLst>
              <a:ext uri="{FF2B5EF4-FFF2-40B4-BE49-F238E27FC236}">
                <a16:creationId xmlns:a16="http://schemas.microsoft.com/office/drawing/2014/main" id="{DFAA7609-6E6A-B996-BC29-F9AA857D7B35}"/>
              </a:ext>
            </a:extLst>
          </p:cNvPr>
          <p:cNvSpPr>
            <a:spLocks noGrp="1"/>
          </p:cNvSpPr>
          <p:nvPr>
            <p:ph idx="1"/>
          </p:nvPr>
        </p:nvSpPr>
        <p:spPr>
          <a:xfrm>
            <a:off x="5857098" y="2041143"/>
            <a:ext cx="4527024" cy="2775713"/>
          </a:xfrm>
        </p:spPr>
        <p:txBody>
          <a:bodyPr/>
          <a:lstStyle/>
          <a:p>
            <a:pPr lvl="0">
              <a:lnSpc>
                <a:spcPct val="150000"/>
              </a:lnSpc>
              <a:buSzPts val="1800"/>
            </a:pPr>
            <a:r>
              <a:rPr lang="en-US" dirty="0">
                <a:latin typeface="+mj-lt"/>
                <a:ea typeface="Times New Roman"/>
                <a:cs typeface="Times New Roman"/>
                <a:sym typeface="Times New Roman"/>
              </a:rPr>
              <a:t>You are hired as a data analyst at Meta and asked to collaborate with the Marketing team. Marketing teams want to leverage Instagram's user data to develop targeted marketing strategies that will           increase user engagement, retention, and acquisition. Provide insights and recommendations to address the following objectives.</a:t>
            </a:r>
          </a:p>
        </p:txBody>
      </p:sp>
      <p:sp>
        <p:nvSpPr>
          <p:cNvPr id="15" name="Slide Number Placeholder 14">
            <a:extLst>
              <a:ext uri="{FF2B5EF4-FFF2-40B4-BE49-F238E27FC236}">
                <a16:creationId xmlns:a16="http://schemas.microsoft.com/office/drawing/2014/main" id="{EA450CD4-3018-DBCF-3A32-B72A7DCFA11F}"/>
              </a:ext>
            </a:extLst>
          </p:cNvPr>
          <p:cNvSpPr>
            <a:spLocks noGrp="1"/>
          </p:cNvSpPr>
          <p:nvPr>
            <p:ph type="sldNum" sz="quarter" idx="12"/>
          </p:nvPr>
        </p:nvSpPr>
        <p:spPr/>
        <p:txBody>
          <a:bodyPr/>
          <a:lstStyle/>
          <a:p>
            <a:fld id="{8D0AFDD5-844D-364D-8AEC-50CF4D36D55D}" type="slidenum">
              <a:rPr lang="en-US" smtClean="0"/>
              <a:pPr/>
              <a:t>5</a:t>
            </a:fld>
            <a:endParaRPr lang="en-US" dirty="0"/>
          </a:p>
        </p:txBody>
      </p:sp>
      <p:pic>
        <p:nvPicPr>
          <p:cNvPr id="6" name="Picture 5">
            <a:extLst>
              <a:ext uri="{FF2B5EF4-FFF2-40B4-BE49-F238E27FC236}">
                <a16:creationId xmlns:a16="http://schemas.microsoft.com/office/drawing/2014/main" id="{2EECF5E8-316B-4699-7271-B4427145EACA}"/>
              </a:ext>
            </a:extLst>
          </p:cNvPr>
          <p:cNvPicPr>
            <a:picLocks noChangeAspect="1"/>
          </p:cNvPicPr>
          <p:nvPr/>
        </p:nvPicPr>
        <p:blipFill>
          <a:blip r:embed="rId2"/>
          <a:srcRect t="37437" r="65529" b="32612"/>
          <a:stretch>
            <a:fillRect/>
          </a:stretch>
        </p:blipFill>
        <p:spPr>
          <a:xfrm>
            <a:off x="1595120" y="1895980"/>
            <a:ext cx="1950720" cy="1304297"/>
          </a:xfrm>
          <a:prstGeom prst="rect">
            <a:avLst/>
          </a:prstGeom>
        </p:spPr>
      </p:pic>
      <p:pic>
        <p:nvPicPr>
          <p:cNvPr id="7" name="Picture 6">
            <a:extLst>
              <a:ext uri="{FF2B5EF4-FFF2-40B4-BE49-F238E27FC236}">
                <a16:creationId xmlns:a16="http://schemas.microsoft.com/office/drawing/2014/main" id="{99222F1C-14F1-36E8-5BBA-648794F23050}"/>
              </a:ext>
            </a:extLst>
          </p:cNvPr>
          <p:cNvPicPr>
            <a:picLocks noChangeAspect="1"/>
          </p:cNvPicPr>
          <p:nvPr/>
        </p:nvPicPr>
        <p:blipFill>
          <a:blip r:embed="rId2"/>
          <a:srcRect l="33753" t="35571" r="-1259" b="34479"/>
          <a:stretch>
            <a:fillRect/>
          </a:stretch>
        </p:blipFill>
        <p:spPr>
          <a:xfrm>
            <a:off x="1069568" y="3180713"/>
            <a:ext cx="3001824" cy="1024897"/>
          </a:xfrm>
          <a:prstGeom prst="rect">
            <a:avLst/>
          </a:prstGeom>
        </p:spPr>
      </p:pic>
    </p:spTree>
    <p:extLst>
      <p:ext uri="{BB962C8B-B14F-4D97-AF65-F5344CB8AC3E}">
        <p14:creationId xmlns:p14="http://schemas.microsoft.com/office/powerpoint/2010/main" val="591722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2581F-97AC-CEFD-0E9A-D1629739D656}"/>
              </a:ext>
            </a:extLst>
          </p:cNvPr>
          <p:cNvSpPr>
            <a:spLocks noGrp="1"/>
          </p:cNvSpPr>
          <p:nvPr>
            <p:ph type="title"/>
          </p:nvPr>
        </p:nvSpPr>
        <p:spPr>
          <a:xfrm>
            <a:off x="1203960" y="536300"/>
            <a:ext cx="3401568" cy="704411"/>
          </a:xfrm>
        </p:spPr>
        <p:txBody>
          <a:bodyPr/>
          <a:lstStyle/>
          <a:p>
            <a:pPr algn="l"/>
            <a:r>
              <a:rPr lang="en-IN" sz="3200" b="1" dirty="0"/>
              <a:t>Approach</a:t>
            </a:r>
          </a:p>
        </p:txBody>
      </p:sp>
      <p:sp>
        <p:nvSpPr>
          <p:cNvPr id="4" name="Slide Number Placeholder 3">
            <a:extLst>
              <a:ext uri="{FF2B5EF4-FFF2-40B4-BE49-F238E27FC236}">
                <a16:creationId xmlns:a16="http://schemas.microsoft.com/office/drawing/2014/main" id="{D6E233FB-8D9F-300D-A3C4-2D2467B1A871}"/>
              </a:ext>
            </a:extLst>
          </p:cNvPr>
          <p:cNvSpPr>
            <a:spLocks noGrp="1"/>
          </p:cNvSpPr>
          <p:nvPr>
            <p:ph type="sldNum" sz="quarter" idx="12"/>
          </p:nvPr>
        </p:nvSpPr>
        <p:spPr/>
        <p:txBody>
          <a:bodyPr/>
          <a:lstStyle/>
          <a:p>
            <a:fld id="{8D0AFDD5-844D-364D-8AEC-50CF4D36D55D}" type="slidenum">
              <a:rPr lang="en-US" noProof="0" smtClean="0"/>
              <a:t>6</a:t>
            </a:fld>
            <a:endParaRPr lang="en-US" noProof="0"/>
          </a:p>
        </p:txBody>
      </p:sp>
      <p:sp>
        <p:nvSpPr>
          <p:cNvPr id="5" name="Footer Placeholder 4">
            <a:extLst>
              <a:ext uri="{FF2B5EF4-FFF2-40B4-BE49-F238E27FC236}">
                <a16:creationId xmlns:a16="http://schemas.microsoft.com/office/drawing/2014/main" id="{76BC0641-85DD-165E-89D1-886961C967E5}"/>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6A242372-BFF0-D9E6-21EF-3AD4BE553807}"/>
              </a:ext>
            </a:extLst>
          </p:cNvPr>
          <p:cNvSpPr>
            <a:spLocks noGrp="1"/>
          </p:cNvSpPr>
          <p:nvPr>
            <p:ph type="dt" sz="half" idx="10"/>
          </p:nvPr>
        </p:nvSpPr>
        <p:spPr/>
        <p:txBody>
          <a:bodyPr/>
          <a:lstStyle/>
          <a:p>
            <a:r>
              <a:rPr lang="en-US" noProof="0"/>
              <a:t>20XX</a:t>
            </a:r>
          </a:p>
        </p:txBody>
      </p:sp>
      <p:sp>
        <p:nvSpPr>
          <p:cNvPr id="7" name="Rectangle 1">
            <a:extLst>
              <a:ext uri="{FF2B5EF4-FFF2-40B4-BE49-F238E27FC236}">
                <a16:creationId xmlns:a16="http://schemas.microsoft.com/office/drawing/2014/main" id="{038B00EC-1689-9732-FBA7-BECB34FA0D48}"/>
              </a:ext>
            </a:extLst>
          </p:cNvPr>
          <p:cNvSpPr>
            <a:spLocks noGrp="1" noChangeArrowheads="1"/>
          </p:cNvSpPr>
          <p:nvPr>
            <p:ph idx="1"/>
          </p:nvPr>
        </p:nvSpPr>
        <p:spPr bwMode="auto">
          <a:xfrm>
            <a:off x="1407160" y="1223762"/>
            <a:ext cx="9221985" cy="4108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eaLnBrk="0" fontAlgn="base" hangingPunct="0">
              <a:lnSpc>
                <a:spcPct val="150000"/>
              </a:lnSpc>
              <a:spcBef>
                <a:spcPct val="0"/>
              </a:spcBef>
              <a:spcAft>
                <a:spcPct val="0"/>
              </a:spcAft>
              <a:buNone/>
            </a:pPr>
            <a:r>
              <a:rPr lang="en-US" altLang="en-US" sz="1600" b="1" dirty="0">
                <a:latin typeface="+mj-lt"/>
                <a:cs typeface="Times New Roman" panose="02020603050405020304" pitchFamily="18" charset="0"/>
              </a:rPr>
              <a:t>1. Data Understanding</a:t>
            </a:r>
            <a:r>
              <a:rPr lang="en-US" altLang="en-US" sz="1600" dirty="0">
                <a:latin typeface="+mj-lt"/>
                <a:cs typeface="Times New Roman" panose="02020603050405020304" pitchFamily="18" charset="0"/>
              </a:rPr>
              <a:t> : Reviewed the dataset structure, identified the 7 core tables, and analyzed how entities such as users, posts, likes, comments, tags, and follows are interconnected.</a:t>
            </a:r>
          </a:p>
          <a:p>
            <a:pPr marL="0" indent="0" eaLnBrk="0" fontAlgn="base" hangingPunct="0">
              <a:lnSpc>
                <a:spcPct val="150000"/>
              </a:lnSpc>
              <a:spcBef>
                <a:spcPct val="0"/>
              </a:spcBef>
              <a:spcAft>
                <a:spcPct val="0"/>
              </a:spcAft>
              <a:buNone/>
            </a:pPr>
            <a:r>
              <a:rPr lang="en-US" altLang="en-US" sz="1600" b="1" dirty="0">
                <a:latin typeface="+mj-lt"/>
                <a:cs typeface="Times New Roman" panose="02020603050405020304" pitchFamily="18" charset="0"/>
              </a:rPr>
              <a:t>2. Data Loading &amp; Inspection</a:t>
            </a:r>
            <a:r>
              <a:rPr lang="en-US" altLang="en-US" sz="1600" dirty="0">
                <a:latin typeface="+mj-lt"/>
                <a:cs typeface="Times New Roman" panose="02020603050405020304" pitchFamily="18" charset="0"/>
              </a:rPr>
              <a:t> : Imported the dataset and performed initial checks for missing values, duplicates, and data types.</a:t>
            </a:r>
          </a:p>
          <a:p>
            <a:pPr marL="0" indent="0" eaLnBrk="0" fontAlgn="base" hangingPunct="0">
              <a:lnSpc>
                <a:spcPct val="150000"/>
              </a:lnSpc>
              <a:spcBef>
                <a:spcPct val="0"/>
              </a:spcBef>
              <a:spcAft>
                <a:spcPct val="0"/>
              </a:spcAft>
              <a:buNone/>
            </a:pPr>
            <a:r>
              <a:rPr lang="en-US" altLang="en-US" sz="1600" b="1" dirty="0">
                <a:latin typeface="+mj-lt"/>
                <a:cs typeface="Times New Roman" panose="02020603050405020304" pitchFamily="18" charset="0"/>
              </a:rPr>
              <a:t>3. Data Cleaning </a:t>
            </a:r>
            <a:r>
              <a:rPr lang="en-US" altLang="en-US" sz="1600" dirty="0">
                <a:latin typeface="+mj-lt"/>
                <a:cs typeface="Times New Roman" panose="02020603050405020304" pitchFamily="18" charset="0"/>
              </a:rPr>
              <a:t>: Handled inconsistencies, ensured relational integrity, and validated keys across tables (</a:t>
            </a:r>
            <a:r>
              <a:rPr lang="en-US" altLang="en-US" sz="1600" dirty="0" err="1">
                <a:latin typeface="+mj-lt"/>
                <a:cs typeface="Times New Roman" panose="02020603050405020304" pitchFamily="18" charset="0"/>
              </a:rPr>
              <a:t>user_id</a:t>
            </a:r>
            <a:r>
              <a:rPr lang="en-US" altLang="en-US" sz="1600" dirty="0">
                <a:latin typeface="+mj-lt"/>
                <a:cs typeface="Times New Roman" panose="02020603050405020304" pitchFamily="18" charset="0"/>
              </a:rPr>
              <a:t>, photo_id, tag_id, etc.).</a:t>
            </a:r>
          </a:p>
          <a:p>
            <a:pPr marL="0" indent="0" eaLnBrk="0" fontAlgn="base" hangingPunct="0">
              <a:lnSpc>
                <a:spcPct val="150000"/>
              </a:lnSpc>
              <a:spcBef>
                <a:spcPct val="0"/>
              </a:spcBef>
              <a:spcAft>
                <a:spcPct val="0"/>
              </a:spcAft>
              <a:buNone/>
            </a:pPr>
            <a:r>
              <a:rPr lang="en-US" altLang="en-US" sz="1600" b="1" dirty="0">
                <a:latin typeface="+mj-lt"/>
                <a:cs typeface="Times New Roman" panose="02020603050405020304" pitchFamily="18" charset="0"/>
              </a:rPr>
              <a:t>4. Exploratory Data Analysis (EDA)</a:t>
            </a:r>
            <a:r>
              <a:rPr lang="en-US" altLang="en-US" sz="1600" dirty="0">
                <a:latin typeface="+mj-lt"/>
                <a:cs typeface="Times New Roman" panose="02020603050405020304" pitchFamily="18" charset="0"/>
              </a:rPr>
              <a:t> : Calculated total users, posts, likes, comments, and engagement metrics to understand platform behavior.</a:t>
            </a:r>
          </a:p>
          <a:p>
            <a:pPr marL="0" indent="0" eaLnBrk="0" fontAlgn="base" hangingPunct="0">
              <a:lnSpc>
                <a:spcPct val="150000"/>
              </a:lnSpc>
              <a:spcBef>
                <a:spcPct val="0"/>
              </a:spcBef>
              <a:spcAft>
                <a:spcPct val="0"/>
              </a:spcAft>
              <a:buNone/>
            </a:pPr>
            <a:r>
              <a:rPr lang="en-US" altLang="en-US" sz="1600" b="1" dirty="0">
                <a:latin typeface="+mj-lt"/>
                <a:cs typeface="Times New Roman" panose="02020603050405020304" pitchFamily="18" charset="0"/>
              </a:rPr>
              <a:t>5. Feature Engineering</a:t>
            </a:r>
            <a:r>
              <a:rPr lang="en-US" altLang="en-US" sz="1600" dirty="0">
                <a:latin typeface="+mj-lt"/>
                <a:cs typeface="Times New Roman" panose="02020603050405020304" pitchFamily="18" charset="0"/>
              </a:rPr>
              <a:t> : Derived new metrics such as total engagements, engagement rate, top hashtags, and user-based activity metrics.</a:t>
            </a:r>
          </a:p>
        </p:txBody>
      </p:sp>
    </p:spTree>
    <p:extLst>
      <p:ext uri="{BB962C8B-B14F-4D97-AF65-F5344CB8AC3E}">
        <p14:creationId xmlns:p14="http://schemas.microsoft.com/office/powerpoint/2010/main" val="1260114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396042-5E37-C375-D484-2D936BBD460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729AC0-6CCE-797D-C6E5-2CD29FB388F4}"/>
              </a:ext>
            </a:extLst>
          </p:cNvPr>
          <p:cNvSpPr>
            <a:spLocks noGrp="1"/>
          </p:cNvSpPr>
          <p:nvPr>
            <p:ph type="sldNum" sz="quarter" idx="12"/>
          </p:nvPr>
        </p:nvSpPr>
        <p:spPr/>
        <p:txBody>
          <a:bodyPr/>
          <a:lstStyle/>
          <a:p>
            <a:fld id="{8D0AFDD5-844D-364D-8AEC-50CF4D36D55D}" type="slidenum">
              <a:rPr lang="en-US" noProof="0" smtClean="0"/>
              <a:t>7</a:t>
            </a:fld>
            <a:endParaRPr lang="en-US" noProof="0"/>
          </a:p>
        </p:txBody>
      </p:sp>
      <p:sp>
        <p:nvSpPr>
          <p:cNvPr id="5" name="Footer Placeholder 4">
            <a:extLst>
              <a:ext uri="{FF2B5EF4-FFF2-40B4-BE49-F238E27FC236}">
                <a16:creationId xmlns:a16="http://schemas.microsoft.com/office/drawing/2014/main" id="{B618D311-3897-3D39-2328-94E7EE239CCA}"/>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6B5A3E16-6289-2315-3CF0-E39B54EA1E04}"/>
              </a:ext>
            </a:extLst>
          </p:cNvPr>
          <p:cNvSpPr>
            <a:spLocks noGrp="1"/>
          </p:cNvSpPr>
          <p:nvPr>
            <p:ph type="dt" sz="half" idx="10"/>
          </p:nvPr>
        </p:nvSpPr>
        <p:spPr/>
        <p:txBody>
          <a:bodyPr/>
          <a:lstStyle/>
          <a:p>
            <a:r>
              <a:rPr lang="en-US" noProof="0"/>
              <a:t>20XX</a:t>
            </a:r>
          </a:p>
        </p:txBody>
      </p:sp>
      <p:sp>
        <p:nvSpPr>
          <p:cNvPr id="8" name="Rectangle 2">
            <a:extLst>
              <a:ext uri="{FF2B5EF4-FFF2-40B4-BE49-F238E27FC236}">
                <a16:creationId xmlns:a16="http://schemas.microsoft.com/office/drawing/2014/main" id="{FE5FCF6D-445C-A0B0-5859-C7EE3248EBB8}"/>
              </a:ext>
            </a:extLst>
          </p:cNvPr>
          <p:cNvSpPr>
            <a:spLocks noGrp="1" noChangeArrowheads="1"/>
          </p:cNvSpPr>
          <p:nvPr>
            <p:ph idx="1"/>
          </p:nvPr>
        </p:nvSpPr>
        <p:spPr bwMode="auto">
          <a:xfrm>
            <a:off x="1295399" y="1048006"/>
            <a:ext cx="10065265" cy="447750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mj-lt"/>
              </a:rPr>
              <a:t>6. Query Writing &amp; Optimization</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Used SQL CTEs, joins, aggregations, window functions, and subqueries to extract insights like:</a:t>
            </a:r>
          </a:p>
          <a:p>
            <a:pPr marL="457189" lvl="1" indent="0" defTabSz="91440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mj-lt"/>
              </a:rPr>
              <a:t>Highest engagement hashtags</a:t>
            </a:r>
          </a:p>
          <a:p>
            <a:pPr marL="457189" lvl="1" indent="0" defTabSz="91440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mj-lt"/>
              </a:rPr>
              <a:t>Reciprocal follow relationships</a:t>
            </a:r>
          </a:p>
          <a:p>
            <a:pPr marL="457189" lvl="1" indent="0" defTabSz="91440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mj-lt"/>
              </a:rPr>
              <a:t>Most liked posts</a:t>
            </a:r>
          </a:p>
          <a:p>
            <a:pPr marL="457189" lvl="1" indent="0" defTabSz="91440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mj-lt"/>
              </a:rPr>
              <a:t>Active vs. passive users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mj-lt"/>
              </a:rPr>
              <a:t>7. Insight Generation</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Interpreted the results with a focus on user behavior, content performance, and engagement patterns.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mj-lt"/>
              </a:rPr>
              <a:t>8. Visualization &amp; Reporting</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Prepared charts, summaries, and structured sections (overview, approach, insights, etc.) for presentation.</a:t>
            </a:r>
          </a:p>
        </p:txBody>
      </p:sp>
    </p:spTree>
    <p:extLst>
      <p:ext uri="{BB962C8B-B14F-4D97-AF65-F5344CB8AC3E}">
        <p14:creationId xmlns:p14="http://schemas.microsoft.com/office/powerpoint/2010/main" val="40790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A5227-6C5B-C8C0-01B0-CF68AFAB7E61}"/>
              </a:ext>
            </a:extLst>
          </p:cNvPr>
          <p:cNvSpPr>
            <a:spLocks noGrp="1"/>
          </p:cNvSpPr>
          <p:nvPr>
            <p:ph type="title"/>
          </p:nvPr>
        </p:nvSpPr>
        <p:spPr>
          <a:xfrm>
            <a:off x="1139952" y="626346"/>
            <a:ext cx="4505474" cy="670693"/>
          </a:xfrm>
        </p:spPr>
        <p:txBody>
          <a:bodyPr/>
          <a:lstStyle/>
          <a:p>
            <a:pPr algn="l"/>
            <a:r>
              <a:rPr lang="en-IN" sz="3200" b="1" dirty="0"/>
              <a:t>Engagement Analysis</a:t>
            </a:r>
          </a:p>
        </p:txBody>
      </p:sp>
      <p:sp>
        <p:nvSpPr>
          <p:cNvPr id="4" name="Slide Number Placeholder 3">
            <a:extLst>
              <a:ext uri="{FF2B5EF4-FFF2-40B4-BE49-F238E27FC236}">
                <a16:creationId xmlns:a16="http://schemas.microsoft.com/office/drawing/2014/main" id="{9AC9FD9A-1B6A-B550-2620-99773D9DA7C5}"/>
              </a:ext>
            </a:extLst>
          </p:cNvPr>
          <p:cNvSpPr>
            <a:spLocks noGrp="1"/>
          </p:cNvSpPr>
          <p:nvPr>
            <p:ph type="sldNum" sz="quarter" idx="12"/>
          </p:nvPr>
        </p:nvSpPr>
        <p:spPr/>
        <p:txBody>
          <a:bodyPr/>
          <a:lstStyle/>
          <a:p>
            <a:fld id="{8D0AFDD5-844D-364D-8AEC-50CF4D36D55D}" type="slidenum">
              <a:rPr lang="en-US" noProof="0" smtClean="0"/>
              <a:t>8</a:t>
            </a:fld>
            <a:endParaRPr lang="en-US" noProof="0"/>
          </a:p>
        </p:txBody>
      </p:sp>
      <p:sp>
        <p:nvSpPr>
          <p:cNvPr id="5" name="Footer Placeholder 4">
            <a:extLst>
              <a:ext uri="{FF2B5EF4-FFF2-40B4-BE49-F238E27FC236}">
                <a16:creationId xmlns:a16="http://schemas.microsoft.com/office/drawing/2014/main" id="{3574DF01-57F6-3DF0-2F40-EFE81C003198}"/>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C09952EC-335F-53D5-17F3-28279C8C16AF}"/>
              </a:ext>
            </a:extLst>
          </p:cNvPr>
          <p:cNvSpPr>
            <a:spLocks noGrp="1"/>
          </p:cNvSpPr>
          <p:nvPr>
            <p:ph type="dt" sz="half" idx="10"/>
          </p:nvPr>
        </p:nvSpPr>
        <p:spPr/>
        <p:txBody>
          <a:bodyPr/>
          <a:lstStyle/>
          <a:p>
            <a:r>
              <a:rPr lang="en-US" noProof="0"/>
              <a:t>20XX</a:t>
            </a:r>
          </a:p>
        </p:txBody>
      </p:sp>
      <p:graphicFrame>
        <p:nvGraphicFramePr>
          <p:cNvPr id="7" name="Content Placeholder 6">
            <a:extLst>
              <a:ext uri="{FF2B5EF4-FFF2-40B4-BE49-F238E27FC236}">
                <a16:creationId xmlns:a16="http://schemas.microsoft.com/office/drawing/2014/main" id="{33E390FB-9739-1C27-9FF2-80D329C4DEA0}"/>
              </a:ext>
            </a:extLst>
          </p:cNvPr>
          <p:cNvGraphicFramePr>
            <a:graphicFrameLocks noGrp="1"/>
          </p:cNvGraphicFramePr>
          <p:nvPr>
            <p:ph idx="1"/>
            <p:extLst>
              <p:ext uri="{D42A27DB-BD31-4B8C-83A1-F6EECF244321}">
                <p14:modId xmlns:p14="http://schemas.microsoft.com/office/powerpoint/2010/main" val="3256194922"/>
              </p:ext>
            </p:extLst>
          </p:nvPr>
        </p:nvGraphicFramePr>
        <p:xfrm>
          <a:off x="1139952" y="1682132"/>
          <a:ext cx="4956048" cy="3168164"/>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a:extLst>
              <a:ext uri="{FF2B5EF4-FFF2-40B4-BE49-F238E27FC236}">
                <a16:creationId xmlns:a16="http://schemas.microsoft.com/office/drawing/2014/main" id="{F6AA181B-F938-2E1E-81CD-7DB78076FD46}"/>
              </a:ext>
            </a:extLst>
          </p:cNvPr>
          <p:cNvSpPr txBox="1"/>
          <p:nvPr/>
        </p:nvSpPr>
        <p:spPr>
          <a:xfrm>
            <a:off x="6643868" y="1682132"/>
            <a:ext cx="4625357" cy="3369512"/>
          </a:xfrm>
          <a:prstGeom prst="rect">
            <a:avLst/>
          </a:prstGeom>
          <a:noFill/>
        </p:spPr>
        <p:txBody>
          <a:bodyPr wrap="square" rtlCol="0">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dirty="0">
                <a:latin typeface="+mj-lt"/>
              </a:rPr>
              <a:t>Top users record </a:t>
            </a:r>
            <a:r>
              <a:rPr lang="en-US" altLang="en-US" sz="1600" b="1" dirty="0">
                <a:latin typeface="+mj-lt"/>
              </a:rPr>
              <a:t>149–166 engagements</a:t>
            </a:r>
            <a:r>
              <a:rPr lang="en-US" altLang="en-US" sz="1600" dirty="0">
                <a:latin typeface="+mj-lt"/>
              </a:rPr>
              <a:t>, far above the platform average.</a:t>
            </a:r>
          </a:p>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dirty="0">
                <a:latin typeface="+mj-lt"/>
              </a:rPr>
              <a:t>Overall </a:t>
            </a:r>
            <a:r>
              <a:rPr lang="en-US" altLang="en-US" sz="1600" b="1" dirty="0">
                <a:latin typeface="+mj-lt"/>
              </a:rPr>
              <a:t>average engagement rate is 65</a:t>
            </a:r>
            <a:r>
              <a:rPr lang="en-US" altLang="en-US" sz="1600" dirty="0">
                <a:latin typeface="+mj-lt"/>
              </a:rPr>
              <a:t> across all users.</a:t>
            </a:r>
          </a:p>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dirty="0">
                <a:latin typeface="+mj-lt"/>
              </a:rPr>
              <a:t>Only </a:t>
            </a:r>
            <a:r>
              <a:rPr lang="en-US" altLang="en-US" sz="1600" b="1" dirty="0">
                <a:latin typeface="+mj-lt"/>
              </a:rPr>
              <a:t>31 users</a:t>
            </a:r>
            <a:r>
              <a:rPr lang="en-US" altLang="en-US" sz="1600" dirty="0">
                <a:latin typeface="+mj-lt"/>
              </a:rPr>
              <a:t> exceed the average, and </a:t>
            </a:r>
            <a:r>
              <a:rPr lang="en-US" altLang="en-US" sz="1600" b="1" dirty="0">
                <a:latin typeface="+mj-lt"/>
              </a:rPr>
              <a:t>18 users</a:t>
            </a:r>
            <a:r>
              <a:rPr lang="en-US" altLang="en-US" sz="1600" dirty="0">
                <a:latin typeface="+mj-lt"/>
              </a:rPr>
              <a:t> cross </a:t>
            </a:r>
            <a:r>
              <a:rPr lang="en-US" altLang="en-US" sz="1600" b="1" dirty="0">
                <a:latin typeface="+mj-lt"/>
              </a:rPr>
              <a:t>100 engagements</a:t>
            </a:r>
            <a:r>
              <a:rPr lang="en-US" altLang="en-US" sz="1600" dirty="0">
                <a:latin typeface="+mj-lt"/>
              </a:rPr>
              <a:t>.</a:t>
            </a:r>
          </a:p>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dirty="0">
                <a:latin typeface="+mj-lt"/>
              </a:rPr>
              <a:t>We will </a:t>
            </a:r>
            <a:r>
              <a:rPr lang="en-US" altLang="en-US" sz="1600" b="1" dirty="0">
                <a:latin typeface="+mj-lt"/>
              </a:rPr>
              <a:t>analyze and promote</a:t>
            </a:r>
            <a:r>
              <a:rPr lang="en-US" altLang="en-US" sz="1600" dirty="0">
                <a:latin typeface="+mj-lt"/>
              </a:rPr>
              <a:t> content types from these high-engagement users to increase overall platform activity.</a:t>
            </a:r>
          </a:p>
        </p:txBody>
      </p:sp>
    </p:spTree>
    <p:extLst>
      <p:ext uri="{BB962C8B-B14F-4D97-AF65-F5344CB8AC3E}">
        <p14:creationId xmlns:p14="http://schemas.microsoft.com/office/powerpoint/2010/main" val="220092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249960-038D-DB38-009E-B259F51F8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9158C-E097-43CE-C209-AA1F3C409F54}"/>
              </a:ext>
            </a:extLst>
          </p:cNvPr>
          <p:cNvSpPr>
            <a:spLocks noGrp="1"/>
          </p:cNvSpPr>
          <p:nvPr>
            <p:ph type="title"/>
          </p:nvPr>
        </p:nvSpPr>
        <p:spPr>
          <a:xfrm>
            <a:off x="1139952" y="626346"/>
            <a:ext cx="4505474" cy="670693"/>
          </a:xfrm>
        </p:spPr>
        <p:txBody>
          <a:bodyPr/>
          <a:lstStyle/>
          <a:p>
            <a:pPr algn="l"/>
            <a:r>
              <a:rPr lang="en-GB" sz="3200" b="1" dirty="0">
                <a:ea typeface="Cascadia Mono Light" panose="020B0609020000020004" pitchFamily="49" charset="0"/>
                <a:cs typeface="Cascadia Mono Light" panose="020B0609020000020004" pitchFamily="49" charset="0"/>
                <a:sym typeface="DM Serif Text"/>
              </a:rPr>
              <a:t>Content Performance</a:t>
            </a:r>
            <a:endParaRPr lang="en-IN" sz="3200" b="1" dirty="0">
              <a:ea typeface="Cascadia Mono Light" panose="020B0609020000020004" pitchFamily="49" charset="0"/>
              <a:cs typeface="Cascadia Mono Light" panose="020B0609020000020004" pitchFamily="49" charset="0"/>
            </a:endParaRPr>
          </a:p>
        </p:txBody>
      </p:sp>
      <p:sp>
        <p:nvSpPr>
          <p:cNvPr id="4" name="Slide Number Placeholder 3">
            <a:extLst>
              <a:ext uri="{FF2B5EF4-FFF2-40B4-BE49-F238E27FC236}">
                <a16:creationId xmlns:a16="http://schemas.microsoft.com/office/drawing/2014/main" id="{C2C955B2-C364-F277-FB44-1985EA7CDA9B}"/>
              </a:ext>
            </a:extLst>
          </p:cNvPr>
          <p:cNvSpPr>
            <a:spLocks noGrp="1"/>
          </p:cNvSpPr>
          <p:nvPr>
            <p:ph type="sldNum" sz="quarter" idx="12"/>
          </p:nvPr>
        </p:nvSpPr>
        <p:spPr/>
        <p:txBody>
          <a:bodyPr/>
          <a:lstStyle/>
          <a:p>
            <a:fld id="{8D0AFDD5-844D-364D-8AEC-50CF4D36D55D}" type="slidenum">
              <a:rPr lang="en-US" noProof="0" smtClean="0"/>
              <a:t>9</a:t>
            </a:fld>
            <a:endParaRPr lang="en-US" noProof="0"/>
          </a:p>
        </p:txBody>
      </p:sp>
      <p:sp>
        <p:nvSpPr>
          <p:cNvPr id="5" name="Footer Placeholder 4">
            <a:extLst>
              <a:ext uri="{FF2B5EF4-FFF2-40B4-BE49-F238E27FC236}">
                <a16:creationId xmlns:a16="http://schemas.microsoft.com/office/drawing/2014/main" id="{BC956F07-9DB6-E93D-ECD3-2C27226EE7D9}"/>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4D2324C3-EA9C-3FA9-9125-94FF2C113084}"/>
              </a:ext>
            </a:extLst>
          </p:cNvPr>
          <p:cNvSpPr>
            <a:spLocks noGrp="1"/>
          </p:cNvSpPr>
          <p:nvPr>
            <p:ph type="dt" sz="half" idx="10"/>
          </p:nvPr>
        </p:nvSpPr>
        <p:spPr/>
        <p:txBody>
          <a:bodyPr/>
          <a:lstStyle/>
          <a:p>
            <a:r>
              <a:rPr lang="en-US" noProof="0"/>
              <a:t>20XX</a:t>
            </a:r>
          </a:p>
        </p:txBody>
      </p:sp>
      <p:sp>
        <p:nvSpPr>
          <p:cNvPr id="8" name="TextBox 7">
            <a:extLst>
              <a:ext uri="{FF2B5EF4-FFF2-40B4-BE49-F238E27FC236}">
                <a16:creationId xmlns:a16="http://schemas.microsoft.com/office/drawing/2014/main" id="{429F1F25-51AC-F667-C4E3-B6DAB1CBF9DF}"/>
              </a:ext>
            </a:extLst>
          </p:cNvPr>
          <p:cNvSpPr txBox="1"/>
          <p:nvPr/>
        </p:nvSpPr>
        <p:spPr>
          <a:xfrm>
            <a:off x="6607773" y="1531213"/>
            <a:ext cx="4661452" cy="4524315"/>
          </a:xfrm>
          <a:prstGeom prst="rect">
            <a:avLst/>
          </a:prstGeom>
          <a:noFill/>
        </p:spPr>
        <p:txBody>
          <a:bodyPr wrap="square" rtlCol="0">
            <a:spAutoFit/>
          </a:bodyPr>
          <a:lstStyle/>
          <a:p>
            <a:pPr marL="400050" lvl="0" indent="-285750">
              <a:buSzPts val="1800"/>
              <a:buFont typeface="Wingdings" panose="05000000000000000000" pitchFamily="2" charset="2"/>
              <a:buChar char="ü"/>
            </a:pPr>
            <a:r>
              <a:rPr lang="en-US" sz="1600" dirty="0">
                <a:latin typeface="+mj-lt"/>
                <a:ea typeface="Times New Roman"/>
                <a:cs typeface="Times New Roman"/>
                <a:sym typeface="Times New Roman"/>
              </a:rPr>
              <a:t>Dreamy Tag has the highest likes where as foodie tags has lowest number of likes.</a:t>
            </a:r>
          </a:p>
          <a:p>
            <a:pPr marL="742950" lvl="0" indent="-285750">
              <a:buFont typeface="Wingdings" panose="05000000000000000000" pitchFamily="2" charset="2"/>
              <a:buChar char="ü"/>
            </a:pPr>
            <a:endParaRPr lang="en-US" sz="1600" dirty="0">
              <a:latin typeface="+mj-lt"/>
              <a:ea typeface="Times New Roman"/>
              <a:cs typeface="Times New Roman"/>
              <a:sym typeface="Times New Roman"/>
            </a:endParaRPr>
          </a:p>
          <a:p>
            <a:pPr marL="400050" lvl="0" indent="-285750">
              <a:buSzPts val="1800"/>
              <a:buFont typeface="Wingdings" panose="05000000000000000000" pitchFamily="2" charset="2"/>
              <a:buChar char="ü"/>
            </a:pPr>
            <a:r>
              <a:rPr lang="en-US" sz="1600" dirty="0">
                <a:latin typeface="+mj-lt"/>
                <a:ea typeface="Times New Roman"/>
                <a:cs typeface="Times New Roman"/>
                <a:sym typeface="Times New Roman"/>
              </a:rPr>
              <a:t>Hashtags with high count of Likes are the popular tags among all.</a:t>
            </a:r>
          </a:p>
          <a:p>
            <a:pPr marL="742950" lvl="0" indent="-285750">
              <a:buSzPts val="1800"/>
              <a:buFont typeface="Wingdings" panose="05000000000000000000" pitchFamily="2" charset="2"/>
              <a:buChar char="ü"/>
            </a:pPr>
            <a:endParaRPr lang="en-US" sz="1600" dirty="0">
              <a:latin typeface="+mj-lt"/>
              <a:ea typeface="Times New Roman"/>
              <a:cs typeface="Times New Roman"/>
              <a:sym typeface="Times New Roman"/>
            </a:endParaRPr>
          </a:p>
          <a:p>
            <a:pPr marL="400050" lvl="0" indent="-285750">
              <a:buSzPts val="1800"/>
              <a:buFont typeface="Wingdings" panose="05000000000000000000" pitchFamily="2" charset="2"/>
              <a:buChar char="ü"/>
            </a:pPr>
            <a:r>
              <a:rPr lang="en-US" sz="1600" dirty="0">
                <a:latin typeface="+mj-lt"/>
                <a:ea typeface="Times New Roman"/>
                <a:cs typeface="Times New Roman"/>
                <a:sym typeface="Times New Roman"/>
              </a:rPr>
              <a:t>Popular tags will be promoted and influencers will promote popular tags by using them in their posts.</a:t>
            </a:r>
          </a:p>
          <a:p>
            <a:pPr marL="285750" lvl="0" indent="-285750">
              <a:buSzPts val="1800"/>
              <a:buFont typeface="Wingdings" panose="05000000000000000000" pitchFamily="2" charset="2"/>
              <a:buChar char="ü"/>
            </a:pPr>
            <a:endParaRPr lang="en-US" sz="1600" dirty="0">
              <a:latin typeface="+mj-lt"/>
              <a:ea typeface="Times New Roman"/>
              <a:cs typeface="Times New Roman"/>
              <a:sym typeface="Times New Roman"/>
            </a:endParaRPr>
          </a:p>
          <a:p>
            <a:pPr marL="400050" lvl="0" indent="-285750">
              <a:buSzPts val="1800"/>
              <a:buFont typeface="Wingdings" panose="05000000000000000000" pitchFamily="2" charset="2"/>
              <a:buChar char="ü"/>
            </a:pPr>
            <a:r>
              <a:rPr lang="en-US" sz="1600" dirty="0">
                <a:latin typeface="+mj-lt"/>
                <a:ea typeface="Times New Roman"/>
                <a:cs typeface="Times New Roman"/>
                <a:sym typeface="Times New Roman"/>
              </a:rPr>
              <a:t>Contents related to these tags should be frequently shown on explore pages of the users to engage them.</a:t>
            </a:r>
          </a:p>
          <a:p>
            <a:pPr marL="285750" lvl="0" indent="-285750">
              <a:buSzPts val="1800"/>
              <a:buFont typeface="Wingdings" panose="05000000000000000000" pitchFamily="2" charset="2"/>
              <a:buChar char="ü"/>
            </a:pPr>
            <a:endParaRPr lang="en-US" sz="1600" dirty="0">
              <a:latin typeface="+mj-lt"/>
              <a:ea typeface="Times New Roman"/>
              <a:cs typeface="Times New Roman"/>
              <a:sym typeface="Times New Roman"/>
            </a:endParaRPr>
          </a:p>
          <a:p>
            <a:pPr marL="400050" lvl="0" indent="-285750">
              <a:buSzPts val="1800"/>
              <a:buFont typeface="Wingdings" panose="05000000000000000000" pitchFamily="2" charset="2"/>
              <a:buChar char="ü"/>
            </a:pPr>
            <a:r>
              <a:rPr lang="en-US" sz="1600" dirty="0">
                <a:latin typeface="+mj-lt"/>
                <a:ea typeface="Times New Roman"/>
                <a:cs typeface="Times New Roman"/>
                <a:sym typeface="Times New Roman"/>
              </a:rPr>
              <a:t>Tags other than dreamy have very much same no. of likes so they should also be optimized.</a:t>
            </a:r>
          </a:p>
          <a:p>
            <a:pPr marL="400050" lvl="0" indent="-285750">
              <a:buClr>
                <a:schemeClr val="lt1"/>
              </a:buClr>
              <a:buSzPts val="1800"/>
              <a:buFont typeface="Wingdings" panose="05000000000000000000" pitchFamily="2" charset="2"/>
              <a:buChar char="ü"/>
            </a:pPr>
            <a:endParaRPr lang="en-US" sz="1600" dirty="0">
              <a:latin typeface="+mj-lt"/>
              <a:ea typeface="Times New Roman"/>
              <a:cs typeface="Times New Roman"/>
              <a:sym typeface="Times New Roman"/>
            </a:endParaRPr>
          </a:p>
        </p:txBody>
      </p:sp>
      <p:graphicFrame>
        <p:nvGraphicFramePr>
          <p:cNvPr id="14" name="Content Placeholder 13">
            <a:extLst>
              <a:ext uri="{FF2B5EF4-FFF2-40B4-BE49-F238E27FC236}">
                <a16:creationId xmlns:a16="http://schemas.microsoft.com/office/drawing/2014/main" id="{1D36CB3C-25B4-0777-1FC9-0E4D3CE7543F}"/>
              </a:ext>
            </a:extLst>
          </p:cNvPr>
          <p:cNvGraphicFramePr>
            <a:graphicFrameLocks noGrp="1"/>
          </p:cNvGraphicFramePr>
          <p:nvPr>
            <p:ph idx="1"/>
            <p:extLst>
              <p:ext uri="{D42A27DB-BD31-4B8C-83A1-F6EECF244321}">
                <p14:modId xmlns:p14="http://schemas.microsoft.com/office/powerpoint/2010/main" val="3214723594"/>
              </p:ext>
            </p:extLst>
          </p:nvPr>
        </p:nvGraphicFramePr>
        <p:xfrm>
          <a:off x="1203959" y="1555209"/>
          <a:ext cx="4892041" cy="38848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20386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D74AC3-6E41-4E6C-9835-F66C99801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96BF4-07CA-4DF4-B17B-9C5FA4AC2BF9}"/>
              </a:ext>
            </a:extLst>
          </p:cNvPr>
          <p:cNvSpPr>
            <a:spLocks noGrp="1"/>
          </p:cNvSpPr>
          <p:nvPr>
            <p:ph type="title"/>
          </p:nvPr>
        </p:nvSpPr>
        <p:spPr>
          <a:xfrm>
            <a:off x="1139951" y="626346"/>
            <a:ext cx="6869729" cy="670693"/>
          </a:xfrm>
        </p:spPr>
        <p:txBody>
          <a:bodyPr/>
          <a:lstStyle/>
          <a:p>
            <a:pPr algn="l"/>
            <a:r>
              <a:rPr lang="en-GB" sz="3200" b="1" dirty="0">
                <a:ea typeface="DM Serif Text"/>
                <a:cs typeface="DM Serif Text"/>
                <a:sym typeface="DM Serif Text"/>
              </a:rPr>
              <a:t>Advertisement Strategy</a:t>
            </a:r>
            <a:endParaRPr lang="en-IN" sz="3200" b="1" dirty="0"/>
          </a:p>
        </p:txBody>
      </p:sp>
      <p:sp>
        <p:nvSpPr>
          <p:cNvPr id="4" name="Slide Number Placeholder 3">
            <a:extLst>
              <a:ext uri="{FF2B5EF4-FFF2-40B4-BE49-F238E27FC236}">
                <a16:creationId xmlns:a16="http://schemas.microsoft.com/office/drawing/2014/main" id="{5954B599-31DD-DFA1-FE98-136A58F9056E}"/>
              </a:ext>
            </a:extLst>
          </p:cNvPr>
          <p:cNvSpPr>
            <a:spLocks noGrp="1"/>
          </p:cNvSpPr>
          <p:nvPr>
            <p:ph type="sldNum" sz="quarter" idx="12"/>
          </p:nvPr>
        </p:nvSpPr>
        <p:spPr/>
        <p:txBody>
          <a:bodyPr/>
          <a:lstStyle/>
          <a:p>
            <a:fld id="{8D0AFDD5-844D-364D-8AEC-50CF4D36D55D}" type="slidenum">
              <a:rPr lang="en-US" noProof="0" smtClean="0"/>
              <a:t>10</a:t>
            </a:fld>
            <a:endParaRPr lang="en-US" noProof="0"/>
          </a:p>
        </p:txBody>
      </p:sp>
      <p:sp>
        <p:nvSpPr>
          <p:cNvPr id="5" name="Footer Placeholder 4">
            <a:extLst>
              <a:ext uri="{FF2B5EF4-FFF2-40B4-BE49-F238E27FC236}">
                <a16:creationId xmlns:a16="http://schemas.microsoft.com/office/drawing/2014/main" id="{2CA6D8E5-864F-DB30-A336-9CDDB0E12E38}"/>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5CBD4F05-BD6E-AB90-CE7E-EB62A707E89E}"/>
              </a:ext>
            </a:extLst>
          </p:cNvPr>
          <p:cNvSpPr>
            <a:spLocks noGrp="1"/>
          </p:cNvSpPr>
          <p:nvPr>
            <p:ph type="dt" sz="half" idx="10"/>
          </p:nvPr>
        </p:nvSpPr>
        <p:spPr/>
        <p:txBody>
          <a:bodyPr/>
          <a:lstStyle/>
          <a:p>
            <a:r>
              <a:rPr lang="en-US" noProof="0"/>
              <a:t>20XX</a:t>
            </a:r>
          </a:p>
        </p:txBody>
      </p:sp>
      <p:sp>
        <p:nvSpPr>
          <p:cNvPr id="8" name="TextBox 7">
            <a:extLst>
              <a:ext uri="{FF2B5EF4-FFF2-40B4-BE49-F238E27FC236}">
                <a16:creationId xmlns:a16="http://schemas.microsoft.com/office/drawing/2014/main" id="{2AB979C3-3A5B-0F5A-4AB4-5432069058F7}"/>
              </a:ext>
            </a:extLst>
          </p:cNvPr>
          <p:cNvSpPr txBox="1"/>
          <p:nvPr/>
        </p:nvSpPr>
        <p:spPr>
          <a:xfrm>
            <a:off x="6607772" y="1531213"/>
            <a:ext cx="4561797" cy="4108176"/>
          </a:xfrm>
          <a:prstGeom prst="rect">
            <a:avLst/>
          </a:prstGeom>
          <a:noFill/>
        </p:spPr>
        <p:txBody>
          <a:bodyPr wrap="square" rtlCol="0">
            <a:spAutoFit/>
          </a:bodyPr>
          <a:lstStyle/>
          <a:p>
            <a:pPr marL="457200" lvl="0" indent="-342900">
              <a:lnSpc>
                <a:spcPct val="150000"/>
              </a:lnSpc>
              <a:buSzPts val="1800"/>
              <a:buFont typeface="Wingdings" panose="05000000000000000000" pitchFamily="2" charset="2"/>
              <a:buChar char="ü"/>
            </a:pPr>
            <a:r>
              <a:rPr lang="en-US" sz="1600" dirty="0">
                <a:latin typeface="+mj-lt"/>
                <a:ea typeface="Times New Roman"/>
                <a:cs typeface="Times New Roman"/>
                <a:sym typeface="Times New Roman"/>
              </a:rPr>
              <a:t>Ad campaigns on the basis of user’s category.</a:t>
            </a:r>
          </a:p>
          <a:p>
            <a:pPr marL="457200" lvl="0" indent="-342900">
              <a:lnSpc>
                <a:spcPct val="150000"/>
              </a:lnSpc>
              <a:buSzPts val="1800"/>
              <a:buFont typeface="Wingdings" panose="05000000000000000000" pitchFamily="2" charset="2"/>
              <a:buChar char="ü"/>
            </a:pPr>
            <a:r>
              <a:rPr lang="en-US" sz="1600" dirty="0">
                <a:latin typeface="+mj-lt"/>
                <a:ea typeface="Times New Roman"/>
                <a:cs typeface="Times New Roman"/>
                <a:sym typeface="Times New Roman"/>
              </a:rPr>
              <a:t>Utilize user data for personalized ad and content.</a:t>
            </a:r>
          </a:p>
          <a:p>
            <a:pPr marL="457200" lvl="0" indent="-342900">
              <a:lnSpc>
                <a:spcPct val="150000"/>
              </a:lnSpc>
              <a:buSzPts val="1800"/>
              <a:buFont typeface="Wingdings" panose="05000000000000000000" pitchFamily="2" charset="2"/>
              <a:buChar char="ü"/>
            </a:pPr>
            <a:r>
              <a:rPr lang="en-US" sz="1600" dirty="0">
                <a:latin typeface="+mj-lt"/>
                <a:ea typeface="Times New Roman"/>
                <a:cs typeface="Times New Roman"/>
                <a:sym typeface="Times New Roman"/>
              </a:rPr>
              <a:t> Notifications and recommendations should be given on the basis of content users follow and like the most.</a:t>
            </a:r>
          </a:p>
          <a:p>
            <a:pPr marL="457200" lvl="0" indent="-342900">
              <a:lnSpc>
                <a:spcPct val="150000"/>
              </a:lnSpc>
              <a:buSzPts val="1800"/>
              <a:buFont typeface="Wingdings" panose="05000000000000000000" pitchFamily="2" charset="2"/>
              <a:buChar char="ü"/>
            </a:pPr>
            <a:r>
              <a:rPr lang="en-US" sz="1600" dirty="0">
                <a:latin typeface="+mj-lt"/>
                <a:ea typeface="Times New Roman"/>
                <a:cs typeface="Times New Roman"/>
                <a:sym typeface="Times New Roman"/>
              </a:rPr>
              <a:t>Collaborations with the Highly engaged users to encourage others for re-engaging on the platform</a:t>
            </a:r>
            <a:r>
              <a:rPr lang="en-US" sz="1600" dirty="0">
                <a:latin typeface="+mj-lt"/>
              </a:rPr>
              <a:t>. </a:t>
            </a:r>
          </a:p>
          <a:p>
            <a:pPr marL="400050" lvl="0" indent="-285750">
              <a:lnSpc>
                <a:spcPct val="150000"/>
              </a:lnSpc>
              <a:buClr>
                <a:schemeClr val="lt1"/>
              </a:buClr>
              <a:buSzPts val="1800"/>
              <a:buFont typeface="Wingdings" panose="05000000000000000000" pitchFamily="2" charset="2"/>
              <a:buChar char="ü"/>
            </a:pPr>
            <a:endParaRPr lang="en-US" sz="1600" dirty="0">
              <a:latin typeface="+mj-lt"/>
              <a:ea typeface="Times New Roman"/>
              <a:cs typeface="Times New Roman"/>
              <a:sym typeface="Times New Roman"/>
            </a:endParaRPr>
          </a:p>
        </p:txBody>
      </p:sp>
      <p:graphicFrame>
        <p:nvGraphicFramePr>
          <p:cNvPr id="9" name="Content Placeholder 8">
            <a:extLst>
              <a:ext uri="{FF2B5EF4-FFF2-40B4-BE49-F238E27FC236}">
                <a16:creationId xmlns:a16="http://schemas.microsoft.com/office/drawing/2014/main" id="{3427FB56-F353-3C39-56B9-AFD12967B94F}"/>
              </a:ext>
            </a:extLst>
          </p:cNvPr>
          <p:cNvGraphicFramePr>
            <a:graphicFrameLocks noGrp="1"/>
          </p:cNvGraphicFramePr>
          <p:nvPr>
            <p:ph idx="1"/>
            <p:extLst>
              <p:ext uri="{D42A27DB-BD31-4B8C-83A1-F6EECF244321}">
                <p14:modId xmlns:p14="http://schemas.microsoft.com/office/powerpoint/2010/main" val="1875955516"/>
              </p:ext>
            </p:extLst>
          </p:nvPr>
        </p:nvGraphicFramePr>
        <p:xfrm>
          <a:off x="1203960" y="1531214"/>
          <a:ext cx="5403812" cy="35616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45839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2BD2AD-6865-137A-F7EA-17BF0BDAF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FE7CB-3B70-D2E6-B446-127E18E640CF}"/>
              </a:ext>
            </a:extLst>
          </p:cNvPr>
          <p:cNvSpPr>
            <a:spLocks noGrp="1"/>
          </p:cNvSpPr>
          <p:nvPr>
            <p:ph type="title"/>
          </p:nvPr>
        </p:nvSpPr>
        <p:spPr>
          <a:xfrm>
            <a:off x="1139951" y="740674"/>
            <a:ext cx="6869729" cy="670693"/>
          </a:xfrm>
        </p:spPr>
        <p:txBody>
          <a:bodyPr/>
          <a:lstStyle/>
          <a:p>
            <a:pPr algn="l"/>
            <a:r>
              <a:rPr lang="en-GB" sz="3200" b="1" dirty="0">
                <a:ea typeface="DM Serif Text"/>
                <a:cs typeface="DM Serif Text"/>
                <a:sym typeface="DM Serif Text"/>
              </a:rPr>
              <a:t>User Classification</a:t>
            </a:r>
            <a:endParaRPr lang="en-IN" sz="3200" b="1" dirty="0"/>
          </a:p>
        </p:txBody>
      </p:sp>
      <p:sp>
        <p:nvSpPr>
          <p:cNvPr id="4" name="Slide Number Placeholder 3">
            <a:extLst>
              <a:ext uri="{FF2B5EF4-FFF2-40B4-BE49-F238E27FC236}">
                <a16:creationId xmlns:a16="http://schemas.microsoft.com/office/drawing/2014/main" id="{69719E45-D25E-2B89-BD10-FE79D389CDD9}"/>
              </a:ext>
            </a:extLst>
          </p:cNvPr>
          <p:cNvSpPr>
            <a:spLocks noGrp="1"/>
          </p:cNvSpPr>
          <p:nvPr>
            <p:ph type="sldNum" sz="quarter" idx="12"/>
          </p:nvPr>
        </p:nvSpPr>
        <p:spPr/>
        <p:txBody>
          <a:bodyPr/>
          <a:lstStyle/>
          <a:p>
            <a:fld id="{8D0AFDD5-844D-364D-8AEC-50CF4D36D55D}" type="slidenum">
              <a:rPr lang="en-US" noProof="0" smtClean="0"/>
              <a:t>11</a:t>
            </a:fld>
            <a:endParaRPr lang="en-US" noProof="0"/>
          </a:p>
        </p:txBody>
      </p:sp>
      <p:sp>
        <p:nvSpPr>
          <p:cNvPr id="5" name="Footer Placeholder 4">
            <a:extLst>
              <a:ext uri="{FF2B5EF4-FFF2-40B4-BE49-F238E27FC236}">
                <a16:creationId xmlns:a16="http://schemas.microsoft.com/office/drawing/2014/main" id="{AEFB8E17-5E7A-B7B2-7C1A-46EEA35D952B}"/>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F0AAAD3C-DB74-3519-222A-3A5C1E9A52AF}"/>
              </a:ext>
            </a:extLst>
          </p:cNvPr>
          <p:cNvSpPr>
            <a:spLocks noGrp="1"/>
          </p:cNvSpPr>
          <p:nvPr>
            <p:ph type="dt" sz="half" idx="10"/>
          </p:nvPr>
        </p:nvSpPr>
        <p:spPr/>
        <p:txBody>
          <a:bodyPr/>
          <a:lstStyle/>
          <a:p>
            <a:r>
              <a:rPr lang="en-US" noProof="0"/>
              <a:t>20XX</a:t>
            </a:r>
          </a:p>
        </p:txBody>
      </p:sp>
      <p:graphicFrame>
        <p:nvGraphicFramePr>
          <p:cNvPr id="10" name="Chart 9">
            <a:extLst>
              <a:ext uri="{FF2B5EF4-FFF2-40B4-BE49-F238E27FC236}">
                <a16:creationId xmlns:a16="http://schemas.microsoft.com/office/drawing/2014/main" id="{B42F0837-2F9F-3E66-D735-FC7C215387F0}"/>
              </a:ext>
            </a:extLst>
          </p:cNvPr>
          <p:cNvGraphicFramePr/>
          <p:nvPr>
            <p:extLst>
              <p:ext uri="{D42A27DB-BD31-4B8C-83A1-F6EECF244321}">
                <p14:modId xmlns:p14="http://schemas.microsoft.com/office/powerpoint/2010/main" val="1656336283"/>
              </p:ext>
            </p:extLst>
          </p:nvPr>
        </p:nvGraphicFramePr>
        <p:xfrm>
          <a:off x="1821199" y="1681049"/>
          <a:ext cx="4429129" cy="389794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9523F9D4-6A31-27BB-4B8B-34397787E02C}"/>
              </a:ext>
            </a:extLst>
          </p:cNvPr>
          <p:cNvSpPr txBox="1"/>
          <p:nvPr/>
        </p:nvSpPr>
        <p:spPr>
          <a:xfrm>
            <a:off x="6827520" y="1575935"/>
            <a:ext cx="4226303" cy="3738844"/>
          </a:xfrm>
          <a:prstGeom prst="rect">
            <a:avLst/>
          </a:prstGeom>
          <a:noFill/>
        </p:spPr>
        <p:txBody>
          <a:bodyPr wrap="square" rtlCol="0">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b="1" dirty="0">
                <a:latin typeface="+mj-lt"/>
              </a:rPr>
              <a:t>Highly Engaged Users:</a:t>
            </a:r>
            <a:r>
              <a:rPr lang="en-US" altLang="en-US" sz="1600" dirty="0">
                <a:latin typeface="+mj-lt"/>
              </a:rPr>
              <a:t> 30 users show consistently high activity and strong interaction levels.</a:t>
            </a:r>
          </a:p>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b="1" dirty="0">
                <a:latin typeface="+mj-lt"/>
              </a:rPr>
              <a:t>Moderately Engaged Users:</a:t>
            </a:r>
            <a:r>
              <a:rPr lang="en-US" altLang="en-US" sz="1600" dirty="0">
                <a:latin typeface="+mj-lt"/>
              </a:rPr>
              <a:t> 34 users maintain a balanced but lower engagement compared to the top group.</a:t>
            </a:r>
          </a:p>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b="1" dirty="0">
                <a:latin typeface="+mj-lt"/>
              </a:rPr>
              <a:t>Less Engaged Users:</a:t>
            </a:r>
            <a:r>
              <a:rPr lang="en-US" altLang="en-US" sz="1600" dirty="0">
                <a:latin typeface="+mj-lt"/>
              </a:rPr>
              <a:t> 10 users show minimal activity and require targeted strategies to improve participation.</a:t>
            </a:r>
          </a:p>
        </p:txBody>
      </p:sp>
      <p:sp>
        <p:nvSpPr>
          <p:cNvPr id="17" name="Rectangle 1">
            <a:extLst>
              <a:ext uri="{FF2B5EF4-FFF2-40B4-BE49-F238E27FC236}">
                <a16:creationId xmlns:a16="http://schemas.microsoft.com/office/drawing/2014/main" id="{A428AD71-E9C9-376D-976E-2503DB3553F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018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064D1E-3299-C65C-D31E-6D6D06D7C9F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C5BA5F-B4BF-B152-27AB-101018116884}"/>
              </a:ext>
            </a:extLst>
          </p:cNvPr>
          <p:cNvSpPr>
            <a:spLocks noGrp="1"/>
          </p:cNvSpPr>
          <p:nvPr>
            <p:ph type="sldNum" sz="quarter" idx="12"/>
          </p:nvPr>
        </p:nvSpPr>
        <p:spPr/>
        <p:txBody>
          <a:bodyPr/>
          <a:lstStyle/>
          <a:p>
            <a:fld id="{8D0AFDD5-844D-364D-8AEC-50CF4D36D55D}" type="slidenum">
              <a:rPr lang="en-US" noProof="0" smtClean="0"/>
              <a:t>12</a:t>
            </a:fld>
            <a:endParaRPr lang="en-US" noProof="0"/>
          </a:p>
        </p:txBody>
      </p:sp>
      <p:sp>
        <p:nvSpPr>
          <p:cNvPr id="5" name="Footer Placeholder 4">
            <a:extLst>
              <a:ext uri="{FF2B5EF4-FFF2-40B4-BE49-F238E27FC236}">
                <a16:creationId xmlns:a16="http://schemas.microsoft.com/office/drawing/2014/main" id="{680ADF93-39E3-69D7-3400-478647D2888D}"/>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F51606D4-931F-69A8-8D99-2B781EF65F8D}"/>
              </a:ext>
            </a:extLst>
          </p:cNvPr>
          <p:cNvSpPr>
            <a:spLocks noGrp="1"/>
          </p:cNvSpPr>
          <p:nvPr>
            <p:ph type="dt" sz="half" idx="10"/>
          </p:nvPr>
        </p:nvSpPr>
        <p:spPr/>
        <p:txBody>
          <a:bodyPr/>
          <a:lstStyle/>
          <a:p>
            <a:r>
              <a:rPr lang="en-US" noProof="0"/>
              <a:t>20XX</a:t>
            </a:r>
          </a:p>
        </p:txBody>
      </p:sp>
      <p:graphicFrame>
        <p:nvGraphicFramePr>
          <p:cNvPr id="10" name="Chart 9">
            <a:extLst>
              <a:ext uri="{FF2B5EF4-FFF2-40B4-BE49-F238E27FC236}">
                <a16:creationId xmlns:a16="http://schemas.microsoft.com/office/drawing/2014/main" id="{2923DA55-32D4-7B6E-497F-D735DDCC903B}"/>
              </a:ext>
            </a:extLst>
          </p:cNvPr>
          <p:cNvGraphicFramePr/>
          <p:nvPr>
            <p:extLst>
              <p:ext uri="{D42A27DB-BD31-4B8C-83A1-F6EECF244321}">
                <p14:modId xmlns:p14="http://schemas.microsoft.com/office/powerpoint/2010/main" val="243297755"/>
              </p:ext>
            </p:extLst>
          </p:nvPr>
        </p:nvGraphicFramePr>
        <p:xfrm>
          <a:off x="1821199" y="1681049"/>
          <a:ext cx="3543281" cy="1747951"/>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B94BF433-2F1A-139E-975B-4B5D1A050C1F}"/>
              </a:ext>
            </a:extLst>
          </p:cNvPr>
          <p:cNvSpPr txBox="1"/>
          <p:nvPr/>
        </p:nvSpPr>
        <p:spPr>
          <a:xfrm>
            <a:off x="6827520" y="1575935"/>
            <a:ext cx="4226303" cy="2261517"/>
          </a:xfrm>
          <a:prstGeom prst="rect">
            <a:avLst/>
          </a:prstGeom>
          <a:noFill/>
        </p:spPr>
        <p:txBody>
          <a:bodyPr wrap="square" rtlCol="0">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b="1" dirty="0">
                <a:latin typeface="+mj-lt"/>
              </a:rPr>
              <a:t>Old Users (65%)</a:t>
            </a:r>
            <a:r>
              <a:rPr lang="en-US" altLang="en-US" sz="1600" dirty="0">
                <a:latin typeface="+mj-lt"/>
              </a:rPr>
              <a:t> – Majority of the users joined </a:t>
            </a:r>
            <a:r>
              <a:rPr lang="en-US" altLang="en-US" sz="1600" b="1" dirty="0">
                <a:latin typeface="+mj-lt"/>
              </a:rPr>
              <a:t>before 2017</a:t>
            </a:r>
            <a:r>
              <a:rPr lang="en-US" altLang="en-US" sz="1600" dirty="0">
                <a:latin typeface="+mj-lt"/>
              </a:rPr>
              <a:t>, showing a strong base of long-term users.</a:t>
            </a:r>
          </a:p>
          <a:p>
            <a:pPr marL="285750" lvl="0" indent="-285750" eaLnBrk="0" fontAlgn="base" hangingPunct="0">
              <a:lnSpc>
                <a:spcPct val="150000"/>
              </a:lnSpc>
              <a:spcBef>
                <a:spcPct val="0"/>
              </a:spcBef>
              <a:spcAft>
                <a:spcPct val="0"/>
              </a:spcAft>
              <a:buFont typeface="Wingdings" panose="05000000000000000000" pitchFamily="2" charset="2"/>
              <a:buChar char="ü"/>
            </a:pPr>
            <a:r>
              <a:rPr lang="en-US" altLang="en-US" sz="1600" b="1" dirty="0">
                <a:latin typeface="+mj-lt"/>
              </a:rPr>
              <a:t>New Users (35%)</a:t>
            </a:r>
            <a:r>
              <a:rPr lang="en-US" altLang="en-US" sz="1600" dirty="0">
                <a:latin typeface="+mj-lt"/>
              </a:rPr>
              <a:t> – The remaining users joined </a:t>
            </a:r>
            <a:r>
              <a:rPr lang="en-US" altLang="en-US" sz="1600" b="1" dirty="0">
                <a:latin typeface="+mj-lt"/>
              </a:rPr>
              <a:t>after 2017</a:t>
            </a:r>
            <a:r>
              <a:rPr lang="en-US" altLang="en-US" sz="1600" dirty="0">
                <a:latin typeface="+mj-lt"/>
              </a:rPr>
              <a:t>, indicating gradual platform growth over the years.</a:t>
            </a:r>
          </a:p>
        </p:txBody>
      </p:sp>
      <p:sp>
        <p:nvSpPr>
          <p:cNvPr id="17" name="Rectangle 1">
            <a:extLst>
              <a:ext uri="{FF2B5EF4-FFF2-40B4-BE49-F238E27FC236}">
                <a16:creationId xmlns:a16="http://schemas.microsoft.com/office/drawing/2014/main" id="{1AFAA32F-605D-FE48-C101-1EB15BA6FD7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Chart 2">
            <a:extLst>
              <a:ext uri="{FF2B5EF4-FFF2-40B4-BE49-F238E27FC236}">
                <a16:creationId xmlns:a16="http://schemas.microsoft.com/office/drawing/2014/main" id="{C4A871B0-40BB-1C4A-0501-803FEA30DA23}"/>
              </a:ext>
            </a:extLst>
          </p:cNvPr>
          <p:cNvGraphicFramePr/>
          <p:nvPr>
            <p:extLst>
              <p:ext uri="{D42A27DB-BD31-4B8C-83A1-F6EECF244321}">
                <p14:modId xmlns:p14="http://schemas.microsoft.com/office/powerpoint/2010/main" val="4234618653"/>
              </p:ext>
            </p:extLst>
          </p:nvPr>
        </p:nvGraphicFramePr>
        <p:xfrm>
          <a:off x="1821199" y="1296468"/>
          <a:ext cx="3766802" cy="2801133"/>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3A31BA81-4FF8-5BD0-61ED-59267FA8DD89}"/>
              </a:ext>
            </a:extLst>
          </p:cNvPr>
          <p:cNvSpPr txBox="1"/>
          <p:nvPr/>
        </p:nvSpPr>
        <p:spPr>
          <a:xfrm>
            <a:off x="2142907" y="4408011"/>
            <a:ext cx="8806278" cy="1153521"/>
          </a:xfrm>
          <a:prstGeom prst="rect">
            <a:avLst/>
          </a:prstGeom>
          <a:noFill/>
        </p:spPr>
        <p:txBody>
          <a:bodyPr wrap="square" rtlCol="0">
            <a:spAutoFit/>
          </a:bodyPr>
          <a:lstStyle/>
          <a:p>
            <a:pPr eaLnBrk="0" fontAlgn="base" hangingPunct="0">
              <a:lnSpc>
                <a:spcPct val="150000"/>
              </a:lnSpc>
              <a:spcBef>
                <a:spcPct val="0"/>
              </a:spcBef>
              <a:spcAft>
                <a:spcPct val="0"/>
              </a:spcAft>
            </a:pPr>
            <a:r>
              <a:rPr lang="en-US" sz="1600" dirty="0">
                <a:latin typeface="+mj-lt"/>
                <a:ea typeface="Times New Roman"/>
                <a:cs typeface="Times New Roman"/>
                <a:sym typeface="Times New Roman"/>
              </a:rPr>
              <a:t>These classification is so that personalized ads and campaigns can be made for different class to improve engagement rates and make interface user friendly.</a:t>
            </a:r>
            <a:endParaRPr lang="en-US" sz="1600" dirty="0">
              <a:latin typeface="+mj-lt"/>
              <a:ea typeface="Roboto"/>
              <a:cs typeface="Roboto"/>
              <a:sym typeface="Roboto"/>
            </a:endParaRPr>
          </a:p>
          <a:p>
            <a:pPr lvl="0" eaLnBrk="0" fontAlgn="base" hangingPunct="0">
              <a:lnSpc>
                <a:spcPct val="150000"/>
              </a:lnSpc>
              <a:spcBef>
                <a:spcPct val="0"/>
              </a:spcBef>
              <a:spcAft>
                <a:spcPct val="0"/>
              </a:spcAft>
            </a:pPr>
            <a:endParaRPr lang="en-US" altLang="en-US" sz="1600" dirty="0">
              <a:latin typeface="+mj-lt"/>
            </a:endParaRPr>
          </a:p>
        </p:txBody>
      </p:sp>
    </p:spTree>
    <p:extLst>
      <p:ext uri="{BB962C8B-B14F-4D97-AF65-F5344CB8AC3E}">
        <p14:creationId xmlns:p14="http://schemas.microsoft.com/office/powerpoint/2010/main" val="722658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C46A"/>
        </a:solidFill>
        <a:effectLst/>
      </p:bgPr>
    </p:bg>
    <p:spTree>
      <p:nvGrpSpPr>
        <p:cNvPr id="1" name="">
          <a:extLst>
            <a:ext uri="{FF2B5EF4-FFF2-40B4-BE49-F238E27FC236}">
              <a16:creationId xmlns:a16="http://schemas.microsoft.com/office/drawing/2014/main" id="{7E5D3D46-0F09-6075-1973-7FE9640002C6}"/>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9F08112D-F3C9-BC03-2B4C-C7B3A6DA9FBA}"/>
              </a:ext>
            </a:extLst>
          </p:cNvPr>
          <p:cNvSpPr>
            <a:spLocks noGrp="1"/>
          </p:cNvSpPr>
          <p:nvPr>
            <p:ph type="ctrTitle"/>
          </p:nvPr>
        </p:nvSpPr>
        <p:spPr>
          <a:xfrm>
            <a:off x="1677924" y="1319784"/>
            <a:ext cx="6206236" cy="590296"/>
          </a:xfrm>
        </p:spPr>
        <p:txBody>
          <a:bodyPr/>
          <a:lstStyle/>
          <a:p>
            <a:r>
              <a:rPr lang="en-GB" sz="3200" b="1" dirty="0">
                <a:ea typeface="DM Serif Text"/>
                <a:cs typeface="DM Serif Text"/>
                <a:sym typeface="DM Serif Text"/>
              </a:rPr>
              <a:t>Campaigns and Projections</a:t>
            </a:r>
            <a:endParaRPr lang="en-US" sz="3200" b="1" dirty="0"/>
          </a:p>
        </p:txBody>
      </p:sp>
      <p:sp>
        <p:nvSpPr>
          <p:cNvPr id="25" name="Subtitle 24">
            <a:extLst>
              <a:ext uri="{FF2B5EF4-FFF2-40B4-BE49-F238E27FC236}">
                <a16:creationId xmlns:a16="http://schemas.microsoft.com/office/drawing/2014/main" id="{284DB4F1-E336-5392-9205-44B031FD7D82}"/>
              </a:ext>
            </a:extLst>
          </p:cNvPr>
          <p:cNvSpPr>
            <a:spLocks noGrp="1"/>
          </p:cNvSpPr>
          <p:nvPr>
            <p:ph type="subTitle" idx="1"/>
          </p:nvPr>
        </p:nvSpPr>
        <p:spPr>
          <a:xfrm>
            <a:off x="2003044" y="2011681"/>
            <a:ext cx="7740396" cy="2580640"/>
          </a:xfrm>
        </p:spPr>
        <p:txBody>
          <a:bodyPr/>
          <a:lstStyle/>
          <a:p>
            <a:pPr marL="285750" indent="-285750">
              <a:buFont typeface="Wingdings" panose="05000000000000000000" pitchFamily="2" charset="2"/>
              <a:buChar char="q"/>
            </a:pPr>
            <a:r>
              <a:rPr lang="en-US" b="1" dirty="0">
                <a:latin typeface="+mj-lt"/>
              </a:rPr>
              <a:t>Targeted campaigns</a:t>
            </a:r>
            <a:r>
              <a:rPr lang="en-US" dirty="0">
                <a:latin typeface="+mj-lt"/>
              </a:rPr>
              <a:t> should be planned based on user categories and the type of content they frequently browse, ensuring higher relevance and response rates.</a:t>
            </a:r>
          </a:p>
          <a:p>
            <a:pPr marL="285750" indent="-285750">
              <a:buFont typeface="Wingdings" panose="05000000000000000000" pitchFamily="2" charset="2"/>
              <a:buChar char="q"/>
            </a:pPr>
            <a:r>
              <a:rPr lang="en-US" b="1" dirty="0">
                <a:latin typeface="+mj-lt"/>
              </a:rPr>
              <a:t>Personalized notifications and emails</a:t>
            </a:r>
            <a:r>
              <a:rPr lang="en-US" dirty="0">
                <a:latin typeface="+mj-lt"/>
              </a:rPr>
              <a:t> must be sent to users to boost engagement, using messages that are </a:t>
            </a:r>
            <a:r>
              <a:rPr lang="en-US" b="1" dirty="0">
                <a:latin typeface="+mj-lt"/>
              </a:rPr>
              <a:t>catchy, friendly, and non-intrusive</a:t>
            </a:r>
            <a:r>
              <a:rPr lang="en-US" dirty="0">
                <a:latin typeface="+mj-lt"/>
              </a:rPr>
              <a:t> to avoid irritation.</a:t>
            </a:r>
          </a:p>
          <a:p>
            <a:pPr marL="285750" indent="-285750">
              <a:buFont typeface="Wingdings" panose="05000000000000000000" pitchFamily="2" charset="2"/>
              <a:buChar char="q"/>
            </a:pPr>
            <a:r>
              <a:rPr lang="en-US" b="1" dirty="0">
                <a:latin typeface="+mj-lt"/>
              </a:rPr>
              <a:t>Underperforming ad campaigns</a:t>
            </a:r>
            <a:r>
              <a:rPr lang="en-US" dirty="0">
                <a:latin typeface="+mj-lt"/>
              </a:rPr>
              <a:t> should be continuously monitored, analyzed, and replaced with improved, trend-aligned alternatives.</a:t>
            </a:r>
          </a:p>
          <a:p>
            <a:pPr marL="285750" indent="-285750">
              <a:buFont typeface="Wingdings" panose="05000000000000000000" pitchFamily="2" charset="2"/>
              <a:buChar char="q"/>
            </a:pPr>
            <a:r>
              <a:rPr lang="en-US" b="1" dirty="0">
                <a:latin typeface="+mj-lt"/>
              </a:rPr>
              <a:t>Brand collaborations and creator partnerships</a:t>
            </a:r>
            <a:r>
              <a:rPr lang="en-US" dirty="0">
                <a:latin typeface="+mj-lt"/>
              </a:rPr>
              <a:t> should be expanded, offering paid promotions to users who consistently show high reach and strong engagement performance.</a:t>
            </a:r>
          </a:p>
          <a:p>
            <a:pPr marL="285750" indent="-285750">
              <a:lnSpc>
                <a:spcPct val="150000"/>
              </a:lnSpc>
              <a:buFont typeface="Wingdings" panose="05000000000000000000" pitchFamily="2" charset="2"/>
              <a:buChar char="q"/>
            </a:pPr>
            <a:endParaRPr lang="en-US" dirty="0">
              <a:latin typeface="+mj-lt"/>
            </a:endParaRPr>
          </a:p>
        </p:txBody>
      </p:sp>
    </p:spTree>
    <p:extLst>
      <p:ext uri="{BB962C8B-B14F-4D97-AF65-F5344CB8AC3E}">
        <p14:creationId xmlns:p14="http://schemas.microsoft.com/office/powerpoint/2010/main" val="2948765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4C5B759-93CB-5B5A-B1D2-2E3C42747C75}"/>
              </a:ext>
            </a:extLst>
          </p:cNvPr>
          <p:cNvSpPr>
            <a:spLocks noGrp="1"/>
          </p:cNvSpPr>
          <p:nvPr>
            <p:ph type="ctrTitle"/>
          </p:nvPr>
        </p:nvSpPr>
        <p:spPr>
          <a:xfrm>
            <a:off x="1677924" y="1319784"/>
            <a:ext cx="4873752" cy="590296"/>
          </a:xfrm>
        </p:spPr>
        <p:txBody>
          <a:bodyPr/>
          <a:lstStyle/>
          <a:p>
            <a:r>
              <a:rPr lang="en-US" sz="3200" b="1" dirty="0"/>
              <a:t>CONCLUSION</a:t>
            </a:r>
          </a:p>
        </p:txBody>
      </p:sp>
      <p:sp>
        <p:nvSpPr>
          <p:cNvPr id="25" name="Subtitle 24">
            <a:extLst>
              <a:ext uri="{FF2B5EF4-FFF2-40B4-BE49-F238E27FC236}">
                <a16:creationId xmlns:a16="http://schemas.microsoft.com/office/drawing/2014/main" id="{518B68B6-5284-F036-E87F-9BC3A435A7B3}"/>
              </a:ext>
            </a:extLst>
          </p:cNvPr>
          <p:cNvSpPr>
            <a:spLocks noGrp="1"/>
          </p:cNvSpPr>
          <p:nvPr>
            <p:ph type="subTitle" idx="1"/>
          </p:nvPr>
        </p:nvSpPr>
        <p:spPr>
          <a:xfrm>
            <a:off x="1677924" y="1910081"/>
            <a:ext cx="8675116" cy="2580640"/>
          </a:xfrm>
        </p:spPr>
        <p:txBody>
          <a:bodyPr/>
          <a:lstStyle/>
          <a:p>
            <a:pPr>
              <a:lnSpc>
                <a:spcPct val="150000"/>
              </a:lnSpc>
            </a:pPr>
            <a:r>
              <a:rPr lang="en-US" dirty="0">
                <a:latin typeface="+mj-lt"/>
              </a:rPr>
              <a:t>The analysis reveals three key user categories—</a:t>
            </a:r>
            <a:r>
              <a:rPr lang="en-US" b="1" dirty="0">
                <a:latin typeface="+mj-lt"/>
              </a:rPr>
              <a:t>Highly Engaged</a:t>
            </a:r>
            <a:r>
              <a:rPr lang="en-US" dirty="0">
                <a:latin typeface="+mj-lt"/>
              </a:rPr>
              <a:t>, </a:t>
            </a:r>
            <a:r>
              <a:rPr lang="en-US" b="1" dirty="0">
                <a:latin typeface="+mj-lt"/>
              </a:rPr>
              <a:t>Moderately Engaged</a:t>
            </a:r>
            <a:r>
              <a:rPr lang="en-US" dirty="0">
                <a:latin typeface="+mj-lt"/>
              </a:rPr>
              <a:t>, and </a:t>
            </a:r>
            <a:r>
              <a:rPr lang="en-US" b="1" dirty="0">
                <a:latin typeface="+mj-lt"/>
              </a:rPr>
              <a:t>Less Engaged</a:t>
            </a:r>
            <a:r>
              <a:rPr lang="en-US" dirty="0">
                <a:latin typeface="+mj-lt"/>
              </a:rPr>
              <a:t>—with a need for </a:t>
            </a:r>
            <a:r>
              <a:rPr lang="en-US" b="1" dirty="0">
                <a:latin typeface="+mj-lt"/>
              </a:rPr>
              <a:t>greater focus on the Less Engaged segment</a:t>
            </a:r>
            <a:r>
              <a:rPr lang="en-US" dirty="0">
                <a:latin typeface="+mj-lt"/>
              </a:rPr>
              <a:t> to improve overall platform activity. Hashtags continue to play a crucial role in boosting engagement, making it essential to </a:t>
            </a:r>
            <a:r>
              <a:rPr lang="en-US" b="1" dirty="0">
                <a:latin typeface="+mj-lt"/>
              </a:rPr>
              <a:t>monitor and utilize trending topics effectively</a:t>
            </a:r>
            <a:r>
              <a:rPr lang="en-US" dirty="0">
                <a:latin typeface="+mj-lt"/>
              </a:rPr>
              <a:t>. With reels emerging as the most engaging content format, especially among new users, creators and influencers should be encouraged to </a:t>
            </a:r>
            <a:r>
              <a:rPr lang="en-US" b="1" dirty="0">
                <a:latin typeface="+mj-lt"/>
              </a:rPr>
              <a:t>produce reel-based content aligned with popular hashtags</a:t>
            </a:r>
            <a:r>
              <a:rPr lang="en-US" dirty="0">
                <a:latin typeface="+mj-lt"/>
              </a:rPr>
              <a:t>. Additionally, </a:t>
            </a:r>
            <a:r>
              <a:rPr lang="en-US" b="1" dirty="0">
                <a:latin typeface="+mj-lt"/>
              </a:rPr>
              <a:t>regular trend-optimized ad campaigns</a:t>
            </a:r>
            <a:r>
              <a:rPr lang="en-US" dirty="0">
                <a:latin typeface="+mj-lt"/>
              </a:rPr>
              <a:t>, combined with </a:t>
            </a:r>
            <a:r>
              <a:rPr lang="en-US" b="1" dirty="0">
                <a:latin typeface="+mj-lt"/>
              </a:rPr>
              <a:t>notification-based promotions through in-app alerts and emails</a:t>
            </a:r>
            <a:r>
              <a:rPr lang="en-US" dirty="0">
                <a:latin typeface="+mj-lt"/>
              </a:rPr>
              <a:t>, will help enhance visibility, engagement, and user retention across the platform.</a:t>
            </a:r>
          </a:p>
          <a:p>
            <a:pPr>
              <a:lnSpc>
                <a:spcPct val="150000"/>
              </a:lnSpc>
            </a:pPr>
            <a:endParaRPr lang="en-US" dirty="0">
              <a:latin typeface="+mj-lt"/>
            </a:endParaRPr>
          </a:p>
        </p:txBody>
      </p:sp>
    </p:spTree>
    <p:extLst>
      <p:ext uri="{BB962C8B-B14F-4D97-AF65-F5344CB8AC3E}">
        <p14:creationId xmlns:p14="http://schemas.microsoft.com/office/powerpoint/2010/main" val="2397583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F611E-26F6-15AA-FD20-FC7EB79D9AFB}"/>
              </a:ext>
            </a:extLst>
          </p:cNvPr>
          <p:cNvSpPr>
            <a:spLocks noGrp="1"/>
          </p:cNvSpPr>
          <p:nvPr>
            <p:ph type="ctrTitle"/>
          </p:nvPr>
        </p:nvSpPr>
        <p:spPr>
          <a:xfrm>
            <a:off x="1409061" y="2756916"/>
            <a:ext cx="4873752" cy="1709928"/>
          </a:xfrm>
        </p:spPr>
        <p:txBody>
          <a:bodyPr/>
          <a:lstStyle/>
          <a:p>
            <a:r>
              <a:rPr lang="en-IN" dirty="0"/>
              <a:t>THANK YOU</a:t>
            </a:r>
          </a:p>
        </p:txBody>
      </p:sp>
      <p:pic>
        <p:nvPicPr>
          <p:cNvPr id="8" name="Picture Placeholder 7">
            <a:extLst>
              <a:ext uri="{FF2B5EF4-FFF2-40B4-BE49-F238E27FC236}">
                <a16:creationId xmlns:a16="http://schemas.microsoft.com/office/drawing/2014/main" id="{FA9C65E7-AE86-3160-820B-379A744230AA}"/>
              </a:ext>
            </a:extLst>
          </p:cNvPr>
          <p:cNvPicPr>
            <a:picLocks noGrp="1" noChangeAspect="1"/>
          </p:cNvPicPr>
          <p:nvPr>
            <p:ph type="pic" sz="quarter" idx="10"/>
          </p:nvPr>
        </p:nvPicPr>
        <p:blipFill>
          <a:blip r:embed="rId2"/>
          <a:srcRect l="2964" r="2964"/>
          <a:stretch>
            <a:fillRect/>
          </a:stretch>
        </p:blipFill>
        <p:spPr/>
      </p:pic>
    </p:spTree>
    <p:extLst>
      <p:ext uri="{BB962C8B-B14F-4D97-AF65-F5344CB8AC3E}">
        <p14:creationId xmlns:p14="http://schemas.microsoft.com/office/powerpoint/2010/main" val="2981417820"/>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3.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Template>
  <TotalTime>1008</TotalTime>
  <Words>1082</Words>
  <Application>Microsoft Office PowerPoint</Application>
  <PresentationFormat>Widescreen</PresentationFormat>
  <Paragraphs>111</Paragraphs>
  <Slides>15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Cascadia Mono Light</vt:lpstr>
      <vt:lpstr>Century Gothic</vt:lpstr>
      <vt:lpstr>DM Serif Text</vt:lpstr>
      <vt:lpstr>Karla</vt:lpstr>
      <vt:lpstr>Univers Condensed Light</vt:lpstr>
      <vt:lpstr>Wingdings</vt:lpstr>
      <vt:lpstr>Office Theme</vt:lpstr>
      <vt:lpstr>Social Media Analysis</vt:lpstr>
      <vt:lpstr>CONTENTS</vt:lpstr>
      <vt:lpstr>About META</vt:lpstr>
      <vt:lpstr>Data overview</vt:lpstr>
      <vt:lpstr>Problem Statement</vt:lpstr>
      <vt:lpstr>Approach</vt:lpstr>
      <vt:lpstr>PowerPoint Presentation</vt:lpstr>
      <vt:lpstr>Engagement Analysis</vt:lpstr>
      <vt:lpstr>Content Performance</vt:lpstr>
      <vt:lpstr>Advertisement Strategy</vt:lpstr>
      <vt:lpstr>User Classification</vt:lpstr>
      <vt:lpstr>PowerPoint Presentation</vt:lpstr>
      <vt:lpstr>Campaigns and Projections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arshi jaleel</dc:creator>
  <cp:lastModifiedBy>arshi jaleel</cp:lastModifiedBy>
  <cp:revision>2</cp:revision>
  <dcterms:created xsi:type="dcterms:W3CDTF">2025-11-24T14:35:26Z</dcterms:created>
  <dcterms:modified xsi:type="dcterms:W3CDTF">2025-11-25T07:29:10Z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